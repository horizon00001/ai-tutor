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Microsoft YaHei"/>
              </a:defRPr>
            </a:pPr>
            <a:r>
              <a:t>试卷评讲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Microsoft YaHei"/>
              </a:defRPr>
            </a:pPr>
            <a:r>
              <a:t>共 7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1. Given the sequences of cities: </a:t>
            </a:r>
            <a:r>
              <a:rPr i="1">
                <a:latin typeface="Cambria Math"/>
              </a:rPr>
              <a:t>u,v: \text{seq CITY}</a:t>
            </a:r>
            <a:r>
              <a:rPr>
                <a:latin typeface="Microsoft YaHei"/>
              </a:rPr>
              <a:t> and the values </a:t>
            </a:r>
            <a:r>
              <a:rPr i="1">
                <a:latin typeface="Cambria Math"/>
              </a:rPr>
              <a:t>\mathsf{u} = \langle \text{London}, \text{Amsterdam}, \text{Madrid} \rangle</a:t>
            </a:r>
            <a:r>
              <a:rPr>
                <a:latin typeface="Microsoft YaHei"/>
              </a:rPr>
              <a:t> and </a:t>
            </a:r>
            <a:r>
              <a:rPr i="1">
                <a:latin typeface="Cambria Math"/>
              </a:rPr>
              <a:t>\mathsf{v} = \langle \text{Paris}, \text{Frankfurt} \rangle</a:t>
            </a:r>
            <a:r>
              <a:rPr>
                <a:latin typeface="Microsoft YaHei"/>
              </a:rPr>
              <a:t>, write down the values of the sequences: </a:t>
            </a:r>
            <a:r>
              <a:rPr i="1">
                <a:latin typeface="Cambria Math"/>
              </a:rPr>
              <a:t>u \frown v</a:t>
            </a:r>
            <a:r>
              <a:rPr>
                <a:latin typeface="Microsoft YaHei"/>
              </a:rPr>
              <a:t>, </a:t>
            </a:r>
            <a:r>
              <a:rPr i="1">
                <a:latin typeface="Cambria Math"/>
              </a:rPr>
              <a:t>\text{rev}(u \frown v)</a:t>
            </a:r>
            <a:r>
              <a:rPr>
                <a:latin typeface="Microsoft YaHei"/>
              </a:rPr>
              <a:t>, </a:t>
            </a:r>
            <a:r>
              <a:rPr i="1">
                <a:latin typeface="Cambria Math"/>
              </a:rPr>
              <a:t>\text{rev}(u)</a:t>
            </a:r>
            <a:r>
              <a:rPr>
                <a:latin typeface="Microsoft YaHei"/>
              </a:rPr>
              <a:t>, </a:t>
            </a:r>
            <a:r>
              <a:rPr i="1">
                <a:latin typeface="Cambria Math"/>
              </a:rPr>
              <a:t>\text{rev}(v)</a:t>
            </a:r>
            <a:r>
              <a:rPr>
                <a:latin typeface="Microsoft YaHei"/>
              </a:rPr>
              <a:t>, </a:t>
            </a:r>
            <a:r>
              <a:rPr i="1">
                <a:latin typeface="Cambria Math"/>
              </a:rPr>
              <a:t>\text{rev}(v) \frown \text{rev}(u)</a:t>
            </a:r>
            <a:r>
              <a:rPr>
                <a:latin typeface="Microsoft YaHei"/>
              </a:rPr>
              <a:t>.</a:t>
            </a:r>
          </a:p>
        </p:txBody>
      </p:sp>
      <p:sp>
        <p:nvSpPr>
          <p:cNvPr id="4" name="AnimatedAnswerShape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$u \frown v = \langle \text{London}, \text{Amsterdam}, \text{Madrid}, \text{Paris}, \text{Frankfurt} \rangle$, $\text{rev}(u \frown v) = \langle \text{Frankfurt}, \text{Paris}, \text{Madrid}, \text{Amsterdam}, \text{London} \rangle$, $\text{rev}(u) = \langle \text{Madrid}, \text{Amsterdam}, \text{London} \rangle$, $\text{rev}(v) = \langle \text{Frankfurt}, \text{Paris} \rangle$, $\text{rev}(v) \frown \text{rev}(u) = \langle \text{Frankfurt}, \text{Paris}, \text{Madrid}, \text{Amsterdam}, \text{London} \rangle$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知识点解析：本题涉及序列（sequences）的基本操作，包括连接（⌢，修复为 LaTeX 符号 \frown）、反转（rev）等。在形式化方法或离散数学中，序列是有序元素的集合。计算时需注意顺序：连接操作将两个序列按顺序合并，反转操作将序列元素顺序颠倒。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2. Referring to Question 1, find the value of </a:t>
            </a:r>
            <a:r>
              <a:rPr i="1">
                <a:latin typeface="Cambria Math"/>
              </a:rPr>
              <a:t>\text{squash}(2\ldots4 \triangleleft \text{rev}(\mathsf{u} \frown \mathsf{v}))</a:t>
            </a:r>
            <a:r>
              <a:rPr>
                <a:latin typeface="Microsoft YaHei"/>
              </a:rPr>
              <a:t>.</a:t>
            </a:r>
          </a:p>
        </p:txBody>
      </p:sp>
      <p:sp>
        <p:nvSpPr>
          <p:cNvPr id="4" name="AnimatedAnswerShape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$\text{squash}(2\ldots4 \triangleleft \text{rev}(\mathsf{u} \frown \mathsf{v})) = \{\text{Paris}, \text{Madrid}, \text{Amsterdam}\}$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知识点解析：本题涉及序列操作中的选择（◁，修复为 LaTeX 符号 \triangleleft）和压缩（squash）。选择操作从序列中选取指定索引范围的元素（索引从1开始），压缩操作将序列转换为集合（去除顺序和重复）。首先计算 </a:t>
            </a:r>
            <a:r>
              <a:rPr sz="1800" i="1">
                <a:latin typeface="Cambria Math"/>
              </a:rPr>
              <a:t>\text{rev}(\mathsf{u} \frown \mathsf{v}) = \langle \text{Frankfurt}, \text{Paris}, \text{Madrid}, \text{Amsterdam}, \text{London} \rangle</a:t>
            </a:r>
            <a:r>
              <a:rPr sz="1800">
                <a:latin typeface="Microsoft YaHei"/>
              </a:rPr>
              <a:t>，然后选择索引2到4的元素得到 </a:t>
            </a:r>
            <a:r>
              <a:rPr sz="1800" i="1">
                <a:latin typeface="Cambria Math"/>
              </a:rPr>
              <a:t>\langle \text{Paris}, \text{Madrid}, \text{Amsterdam} \rangle</a:t>
            </a:r>
            <a:r>
              <a:rPr sz="1800">
                <a:latin typeface="Microsoft YaHei"/>
              </a:rPr>
              <a:t>，最后压缩为集合。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3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3. Find the value of </a:t>
            </a:r>
            <a:r>
              <a:rPr i="1">
                <a:latin typeface="Cambria Math"/>
              </a:rPr>
              <a:t>\text{squash}(4\ldots2 \triangleleft \text{rev}(\mathsf{u} \frown \mathsf{v}))</a:t>
            </a:r>
            <a:r>
              <a:rPr>
                <a:latin typeface="Microsoft YaHei"/>
              </a:rPr>
              <a:t>.</a:t>
            </a:r>
          </a:p>
        </p:txBody>
      </p:sp>
      <p:sp>
        <p:nvSpPr>
          <p:cNvPr id="4" name="AnimatedAnswerShape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$\text{squash}(4\ldots2 \triangleleft \text{rev}(\mathsf{u} \frown \mathsf{v})) = \emptyset$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知识点解析：本题同样涉及选择和压缩操作。索引范围 </a:t>
            </a:r>
            <a:r>
              <a:rPr sz="1800" i="1">
                <a:latin typeface="Cambria Math"/>
              </a:rPr>
              <a:t>4\ldots2</a:t>
            </a:r>
            <a:r>
              <a:rPr sz="1800">
                <a:latin typeface="Microsoft YaHei"/>
              </a:rPr>
              <a:t> 是无效的（起始索引大于结束索引），在序列操作中通常返回空序列。因此，选择操作得到空序列，压缩后为空集合。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4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4. Find the value of </a:t>
            </a:r>
            <a:r>
              <a:rPr i="1">
                <a:latin typeface="Cambria Math"/>
              </a:rPr>
              <a:t>\mathsf{u} ∼ \mathsf{v}^{\uparrow} {\text{London}, \text{Moscow}, \text{Paris}, \text{Rome}}</a:t>
            </a:r>
            <a:r>
              <a:rPr>
                <a:latin typeface="Microsoft YaHei"/>
              </a:rPr>
              <a:t>.</a:t>
            </a:r>
          </a:p>
        </p:txBody>
      </p:sp>
      <p:sp>
        <p:nvSpPr>
          <p:cNvPr id="4" name="AnimatedAnswerShape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$\mathsf{u} \sim \mathsf{v}^{\uparrow} \{\text{London}, \text{Moscow}, \text{Paris}, \text{Rome}\} = \{\text{London}, \text{Paris}\}$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知识点解析：本题涉及序列的过滤（~，修复为 LaTeX 符号 \sim）和提升（↑）操作。提升操作将序列转换为集合，过滤操作从集合中选取序列中存在的元素。首先提升 </a:t>
            </a:r>
            <a:r>
              <a:rPr sz="1800" i="1">
                <a:latin typeface="Cambria Math"/>
              </a:rPr>
              <a:t>\mathsf{v}</a:t>
            </a:r>
            <a:r>
              <a:rPr sz="1800">
                <a:latin typeface="Microsoft YaHei"/>
              </a:rPr>
              <a:t> 为集合 </a:t>
            </a:r>
            <a:r>
              <a:rPr sz="1800" i="1">
                <a:latin typeface="Cambria Math"/>
              </a:rPr>
              <a:t>{\text{Paris}, \text{Frankfurt}}</a:t>
            </a:r>
            <a:r>
              <a:rPr sz="1800">
                <a:latin typeface="Microsoft YaHei"/>
              </a:rPr>
              <a:t>，然后与给定集合 </a:t>
            </a:r>
            <a:r>
              <a:rPr sz="1800" i="1">
                <a:latin typeface="Cambria Math"/>
              </a:rPr>
              <a:t>{\text{London}, \text{Moscow}, \text{Paris}, \text{Rome}}</a:t>
            </a:r>
            <a:r>
              <a:rPr sz="1800">
                <a:latin typeface="Microsoft YaHei"/>
              </a:rPr>
              <a:t> 取交集，但根据符号 </a:t>
            </a:r>
            <a:r>
              <a:rPr sz="1800" i="1">
                <a:latin typeface="Cambria Math"/>
              </a:rPr>
              <a:t>∼</a:t>
            </a:r>
            <a:r>
              <a:rPr sz="1800">
                <a:latin typeface="Microsoft YaHei"/>
              </a:rPr>
              <a:t>，可能表示过滤操作：从给定集合中选取在 </a:t>
            </a:r>
            <a:r>
              <a:rPr sz="1800" i="1">
                <a:latin typeface="Cambria Math"/>
              </a:rPr>
              <a:t>\mathsf{u}</a:t>
            </a:r>
            <a:r>
              <a:rPr sz="1800">
                <a:latin typeface="Microsoft YaHei"/>
              </a:rPr>
              <a:t> 或 </a:t>
            </a:r>
            <a:r>
              <a:rPr sz="1800" i="1">
                <a:latin typeface="Cambria Math"/>
              </a:rPr>
              <a:t>\mathsf{v}</a:t>
            </a:r>
            <a:r>
              <a:rPr sz="1800">
                <a:latin typeface="Microsoft YaHei"/>
              </a:rPr>
              <a:t> 中出现的元素。这里 </a:t>
            </a:r>
            <a:r>
              <a:rPr sz="1800" i="1">
                <a:latin typeface="Cambria Math"/>
              </a:rPr>
              <a:t>\mathsf{u} = \langle \text{London}, \text{Amsterdam}, \text{Madrid} \rangle</a:t>
            </a:r>
            <a:r>
              <a:rPr sz="1800">
                <a:latin typeface="Microsoft YaHei"/>
              </a:rPr>
              <a:t>，</a:t>
            </a:r>
            <a:r>
              <a:rPr sz="1800" i="1">
                <a:latin typeface="Cambria Math"/>
              </a:rPr>
              <a:t>\mathsf{v} = \langle \text{Paris}, \text{Frankfurt} \rangle</a:t>
            </a:r>
            <a:r>
              <a:rPr sz="1800">
                <a:latin typeface="Microsoft YaHei"/>
              </a:rPr>
              <a:t>，所以交集为 </a:t>
            </a:r>
            <a:r>
              <a:rPr sz="1800" i="1">
                <a:latin typeface="Cambria Math"/>
              </a:rPr>
              <a:t>{\text{London}, \text{Paris}}</a:t>
            </a:r>
            <a:r>
              <a:rPr sz="1800">
                <a:latin typeface="Microsoft YaHei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5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5. Find the value of </a:t>
            </a:r>
            <a:r>
              <a:rPr i="1">
                <a:latin typeface="Cambria Math"/>
              </a:rPr>
              <a:t>\text{tail}(\mathsf{u} \frown \mathsf{v}) \frown \text{front}(\langle \text{Moscow}, \text{Berlin}, \text{Warsaw} \rangle)</a:t>
            </a:r>
            <a:r>
              <a:rPr>
                <a:latin typeface="Microsoft YaHei"/>
              </a:rPr>
              <a:t>.</a:t>
            </a:r>
          </a:p>
        </p:txBody>
      </p:sp>
      <p:sp>
        <p:nvSpPr>
          <p:cNvPr id="4" name="AnimatedAnswerShape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$\text{tail}(\mathsf{u} \frown \mathsf{v}) \frown \text{front}(\langle \text{Moscow}, \text{Berlin}, \text{Warsaw} \rangle) = \langle \text{Amsterdam}, \text{Madrid}, \text{Paris}, \text{Frankfurt}, \text{Moscow}, \text{Berlin} \rangle$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知识点解析：本题涉及序列的尾部（tail）和前端（front）操作。尾部操作移除序列的第一个元素，前端操作移除序列的最后一个元素。首先计算 </a:t>
            </a:r>
            <a:r>
              <a:rPr sz="1800" i="1">
                <a:latin typeface="Cambria Math"/>
              </a:rPr>
              <a:t>\mathsf{u} \frown \mathsf{v} = \langle \text{London}, \text{Amsterdam}, \text{Madrid}, \text{Paris}, \text{Frankfurt} \rangle</a:t>
            </a:r>
            <a:r>
              <a:rPr sz="1800">
                <a:latin typeface="Microsoft YaHei"/>
              </a:rPr>
              <a:t>，尾部得到 </a:t>
            </a:r>
            <a:r>
              <a:rPr sz="1800" i="1">
                <a:latin typeface="Cambria Math"/>
              </a:rPr>
              <a:t>\langle \text{Amsterdam}, \text{Madrid}, \text{Paris}, \text{Frankfurt} \rangle</a:t>
            </a:r>
            <a:r>
              <a:rPr sz="1800">
                <a:latin typeface="Microsoft YaHei"/>
              </a:rPr>
              <a:t>。然后计算 </a:t>
            </a:r>
            <a:r>
              <a:rPr sz="1800" i="1">
                <a:latin typeface="Cambria Math"/>
              </a:rPr>
              <a:t>\text{front}(\langle \text{Moscow}, \text{Berlin}, \text{Warsaw} \rangle) = \langle \text{Moscow}, \text{Berlin} \rangle</a:t>
            </a:r>
            <a:r>
              <a:rPr sz="1800">
                <a:latin typeface="Microsoft YaHei"/>
              </a:rPr>
              <a:t>。最后连接两个序列。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6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1. 设 Instruments 为乐器的给定集合，Actions 为对乐器施行的动作的集合，并有如下两个定义在给定集合 People、Instruments 和 Actions 上的关系。
</a:t>
            </a:r>
            <a:r>
              <a:rPr i="1">
                <a:latin typeface="Cambria Math"/>
              </a:rPr>
              <a:t>\text{plays} = {(\text{Ligang} \mapsto \text{piano}), (\text{NiJun} \mapsto \text{guitar}), (\text{DaWei} \mapsto \text{violin}), (\text{ZhangHua} \mapsto \text{trumpet}), (\text{ZhangYing} \mapsto \text{flute}), (\text{ZhangYing} \mapsto \text{piano}), (\text{GaoLei} \mapsto \text{piano})}</a:t>
            </a:r>
            <a:r>
              <a:rPr>
                <a:latin typeface="Microsoft YaHei"/>
              </a:rPr>
              <a:t>
</a:t>
            </a:r>
            <a:r>
              <a:rPr i="1">
                <a:latin typeface="Cambria Math"/>
              </a:rPr>
              <a:t>\text{worksBy} = {(\text{piano} \mapsto \text{hammering}), (\text{guitar} \mapsto \text{plucking}), (\text{harpsichord} \mapsto \text{plucking}), (\text{trumpet} \mapsto \text{blowing}), (\text{flute} \mapsto \text{blowing}), (\text{violin} \mapsto \text{bowing}), (\text{violin} \mapsto \text{scraping})}</a:t>
            </a:r>
            <a:r>
              <a:rPr>
                <a:latin typeface="Microsoft YaHei"/>
              </a:rPr>
              <a:t>
(1) 分别写出 plays 和 worksBy 的 domain 和 range。
(2) 写出它们的类型。
(3) 写出 plays</a:t>
            </a:r>
            <a:r>
              <a:rPr i="1">
                <a:latin typeface="Cambria Math"/>
              </a:rPr>
              <a:t>^{∼}</a:t>
            </a:r>
            <a:r>
              <a:rPr>
                <a:latin typeface="Microsoft YaHei"/>
              </a:rPr>
              <a:t> 以及它的 domain 和 range。
(4) 写出 worksBy</a:t>
            </a:r>
            <a:r>
              <a:rPr i="1">
                <a:latin typeface="Cambria Math"/>
              </a:rPr>
              <a:t>^{∼}</a:t>
            </a:r>
            <a:r>
              <a:rPr>
                <a:latin typeface="Microsoft YaHei"/>
              </a:rPr>
              <a:t> 以及它的 domain 和 range。</a:t>
            </a:r>
          </a:p>
        </p:txBody>
      </p:sp>
      <p:sp>
        <p:nvSpPr>
          <p:cNvPr id="4" name="AnimatedAnswerShape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(1) $\text{domain}(\text{plays}) = \{\text{Ligang}, \text{NiJun}, \text{DaWei}, \text{ZhangHua}, \text{ZhangYing}, \text{GaoLei}\}$, $\text{range}(\text{plays}) = \{\text{piano}, \text{guitar}, \text{violin}, \text{trumpet}, \text{flute}\}$; $\text{domain}(\text{worksBy}) = \{\text{piano}, \text{guitar}, \text{harpsichord}, \text{trumpet}, \text{flute}, \text{violin}\}$, $\text{range}(\text{worksBy}) = \{\text{hammering}, \text{plucking}, \text{blowing}, \text{bowing}, \text{scraping}\}$.</a:t>
            </a:r>
            <a:br/>
            <a:r>
              <a:t>(2) $\text{plays}: \text{People} \leftrightarrow \text{Instruments}$, $\text{worksBy}: \text{Instruments} \leftrightarrow \text{Actions}$.</a:t>
            </a:r>
            <a:br/>
            <a:r>
              <a:t>(3) $\text{plays}^{\sim} = \{(\text{piano} \mapsto \text{Ligang}), (\text{guitar} \mapsto \text{NiJun}), (\text{violin} \mapsto \text{DaWei}), (\text{trumpet} \mapsto \text{ZhangHua}), (\text{flute} \mapsto \text{ZhangYing}), (\text{piano} \mapsto \text{ZhangYing}), (\text{piano} \mapsto \text{GaoLei})\}$, $\text{domain}(\text{plays}^{\sim}) = \{\text{piano}, \text{guitar}, \text{violin}, \text{trumpet}, \text{flute}\}$, $\text{range}(\text{plays}^{\sim}) = \{\text{Ligang}, \text{NiJun}, \text{DaWei}, \text{ZhangHua}, \text{ZhangYing}, \text{GaoLei}\}$.</a:t>
            </a:r>
            <a:br/>
            <a:r>
              <a:t>(4) $\text{worksBy}^{\sim} = \{(\text{hammering} \mapsto \text{piano}), (\text{plucking} \mapsto \text{guitar}), (\text{plucking} \mapsto \text{harpsichord}), (\text{blowing} \mapsto \text{trumpet}), (\text{blowing} \mapsto \text{flute}), (\text{bowing} \mapsto \text{violin}), (\text{scraping} \mapsto \text{violin})\}$, $\text{domain}(\text{worksBy}^{\sim}) = \{\text{hammering}, \text{plucking}, \text{blowing}, \text{bowing}, \text{scraping}\}$, $\text{range}(\text{worksBy}^{\sim}) = \{\text{piano}, \text{guitar}, \text{harpsichord}, \text{trumpet}, \text{flute}, \text{violin}\}$.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知识点解析：本题涉及关系（relations）的基本概念，包括定义域（domain）、值域（range）、类型（type）和逆关系（~，修复为 LaTeX 上标 ^{\sim}）。在形式化方法或离散数学中，关系是集合之间的映射。定义域是关系中所有有序对的第一个元素组成的集合，值域是第二个元素组成的集合。类型表示关系涉及的集合。逆关系将有序对中的元素交换顺序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7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Microsoft YaHei"/>
              </a:rPr>
              <a:t>2. 用上题中定义的关系 plays 和 worksBy 写出如下定义的每一个关系的内容。
(1) </a:t>
            </a:r>
            <a:r>
              <a:rPr i="1">
                <a:latin typeface="Cambria Math"/>
              </a:rPr>
              <a:t>{\text{piano}, \text{harpsichord}} \triangleleft \text{worksBy}</a:t>
            </a:r>
            <a:r>
              <a:rPr>
                <a:latin typeface="Microsoft YaHei"/>
              </a:rPr>
              <a:t>
(2) </a:t>
            </a:r>
            <a:r>
              <a:rPr i="1">
                <a:latin typeface="Cambria Math"/>
              </a:rPr>
              <a:t>\text{plays} \triangleright {\text{piano}, \text{violin}}</a:t>
            </a:r>
            <a:r>
              <a:rPr>
                <a:latin typeface="Microsoft YaHei"/>
              </a:rPr>
              <a:t>
(3) </a:t>
            </a:r>
            <a:r>
              <a:rPr i="1">
                <a:latin typeface="Cambria Math"/>
              </a:rPr>
              <a:t>\text{plays} \triangleright {\text{piano}}</a:t>
            </a:r>
            <a:r>
              <a:rPr>
                <a:latin typeface="Microsoft YaHei"/>
              </a:rPr>
              <a:t>
(4) </a:t>
            </a:r>
            <a:r>
              <a:rPr i="1">
                <a:latin typeface="Cambria Math"/>
              </a:rPr>
              <a:t>\text{worksBy} \triangleright {\text{bowing}, \text{scraping}}</a:t>
            </a:r>
          </a:p>
        </p:txBody>
      </p:sp>
      <p:sp>
        <p:nvSpPr>
          <p:cNvPr id="4" name="AnimatedAnswerShape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00"/>
                </a:solidFill>
              </a:defRPr>
            </a:pPr>
            <a:r>
              <a:t>【正确答案】 (1) $\{\text{piano}, \text{harpsichord}\} \triangleleft \text{worksBy} = \{(\text{piano} \mapsto \text{hammering}), (\text{harpsichord} \mapsto \text{plucking})\}$</a:t>
            </a:r>
            <a:br/>
            <a:r>
              <a:t>(2) $\text{plays} \triangleright \{\text{piano}, \text{violin}\} = \{(\text{Ligang} \mapsto \text{piano}), (\text{DaWei} \mapsto \text{violin}), (\text{ZhangYing} \mapsto \text{piano}), (\text{GaoLei} \mapsto \text{piano})\}$</a:t>
            </a:r>
            <a:br/>
            <a:r>
              <a:t>(3) $\text{plays} \triangleright \{\text{piano}\} = \{(\text{Ligang} \mapsto \text{piano}), (\text{ZhangYing} \mapsto \text{piano}), (\text{GaoLei} \mapsto \text{piano})\}$</a:t>
            </a:r>
            <a:br/>
            <a:r>
              <a:t>(4) $\text{worksBy} \triangleright \{\text{bowing}, \text{scraping}\} = \{(\text{violin} \mapsto \text{bowing}), (\text{violin} \mapsto \text{scraping})\}$</a:t>
            </a:r>
          </a:p>
          <a:p>
            <a:pPr algn="l"/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Microsoft YaHei"/>
              </a:rPr>
              <a:t>知识点解析：本题涉及关系的限制操作，包括域限制（◁，修复为 LaTeX 符号 \triangleleft）和范围限制（▷，修复为 LaTeX 符号 \triangleright）。域限制从关系中选取定义域在指定集合中的有序对，范围限制从关系中选取值域在指定集合中的有序对。在形式化方法中，这些操作用于过滤关系中的元素。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2295</Words>
  <Application>Microsoft Office PowerPoint</Application>
  <PresentationFormat>宽屏</PresentationFormat>
  <Paragraphs>30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Microsoft YaHei</vt:lpstr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名 佚</cp:lastModifiedBy>
  <cp:revision>2</cp:revision>
  <dcterms:created xsi:type="dcterms:W3CDTF">2013-01-27T09:14:16Z</dcterms:created>
  <dcterms:modified xsi:type="dcterms:W3CDTF">2026-04-12T15:44:11Z</dcterms:modified>
  <cp:category/>
</cp:coreProperties>
</file>