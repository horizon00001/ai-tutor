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rPr sz="2800"/>
              <a:t>天津大学2024~2025学年第一学期期末考试试卷《计算机软件技术基础2》（C++、64学时）（B卷）</a:t>
            </a:r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微软雅黑" panose="020B0503020204020204" charset="-122"/>
              </a:defRPr>
            </a:pPr>
            <a:r>
              <a:t>共 17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字符数组s有5个元素，定义该数组的正确语句是（ ）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char[]="abcde";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char s[4];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char s[5];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char s[6];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字符数组定义时，数组大小应至少为元素个数加1以容纳空字符，但题目指定有5个元素，可能指字符数，正确选项应为char s[5]; 因为选项C定义大小为5的数组，可存储5个字符。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下列各选项中，可以作为变量名的是（ ）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public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5register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_register5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my\$register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在C++中，变量名不能以数字开头，不能是关键字，且只能包含字母、数字和下划线。选项C以字母开头，符合规则。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数组 </a:t>
            </a:r>
            <a:r>
              <a:rPr sz="1600" i="1">
                <a:latin typeface="Cambria Math" panose="02040503050406030204"/>
              </a:rPr>
              <a:t>a</a:t>
            </a:r>
            <a:r>
              <a:rPr sz="1600">
                <a:latin typeface="微软雅黑" panose="020B0503020204020204" charset="-122"/>
              </a:rPr>
              <a:t> 和指针 </a:t>
            </a:r>
            <a:r>
              <a:rPr sz="1600" i="1">
                <a:latin typeface="Cambria Math" panose="02040503050406030204"/>
              </a:rPr>
              <a:t>p</a:t>
            </a:r>
            <a:r>
              <a:rPr sz="1600">
                <a:latin typeface="微软雅黑" panose="020B0503020204020204" charset="-122"/>
              </a:rPr>
              <a:t> 的定义如下,则下面的说法正确的是（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</a:t>
            </a:r>
            <a:r>
              <a:rPr sz="1400" i="1">
                <a:latin typeface="Cambria Math" panose="02040503050406030204"/>
              </a:rPr>
              <a:t>*p+1</a:t>
            </a:r>
            <a:r>
              <a:rPr sz="1400">
                <a:latin typeface="微软雅黑" panose="020B0503020204020204" charset="-122"/>
              </a:rPr>
              <a:t> 的值是3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</a:t>
            </a:r>
            <a:r>
              <a:rPr sz="1400" i="1">
                <a:latin typeface="Cambria Math" panose="02040503050406030204"/>
              </a:rPr>
              <a:t>*p++</a:t>
            </a:r>
            <a:r>
              <a:rPr sz="1400">
                <a:latin typeface="微软雅黑" panose="020B0503020204020204" charset="-122"/>
              </a:rPr>
              <a:t> 的值是3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</a:t>
            </a:r>
            <a:r>
              <a:rPr sz="1400" i="1">
                <a:latin typeface="Cambria Math" panose="02040503050406030204"/>
              </a:rPr>
              <a:t>*(p+1)</a:t>
            </a:r>
            <a:r>
              <a:rPr sz="1400">
                <a:latin typeface="微软雅黑" panose="020B0503020204020204" charset="-122"/>
              </a:rPr>
              <a:t> 的值是3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</a:t>
            </a:r>
            <a:r>
              <a:rPr sz="1400" i="1">
                <a:latin typeface="Cambria Math" panose="02040503050406030204"/>
              </a:rPr>
              <a:t>*+p</a:t>
            </a:r>
            <a:r>
              <a:rPr sz="1400">
                <a:latin typeface="微软雅黑" panose="020B0503020204020204" charset="-122"/>
              </a:rPr>
              <a:t> 的值是3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定义 </a:t>
            </a:r>
            <a:r>
              <a:rPr sz="1800" i="1">
                <a:latin typeface="Cambria Math" panose="02040503050406030204"/>
              </a:rPr>
              <a:t>a[] = {4, 3, 2, 1}</a:t>
            </a:r>
            <a:r>
              <a:rPr sz="1800">
                <a:latin typeface="微软雅黑" panose="020B0503020204020204" charset="-122"/>
              </a:rPr>
              <a:t>，</a:t>
            </a:r>
            <a:r>
              <a:rPr sz="1800" i="1">
                <a:latin typeface="Cambria Math" panose="02040503050406030204"/>
              </a:rPr>
              <a:t>p = a + 1</a:t>
            </a:r>
            <a:r>
              <a:rPr sz="1800">
                <a:latin typeface="微软雅黑" panose="020B0503020204020204" charset="-122"/>
              </a:rPr>
              <a:t> 指向 </a:t>
            </a:r>
            <a:r>
              <a:rPr sz="1800" i="1">
                <a:latin typeface="Cambria Math" panose="02040503050406030204"/>
              </a:rPr>
              <a:t>a[1] = 3</a:t>
            </a:r>
            <a:r>
              <a:rPr sz="1800">
                <a:latin typeface="微软雅黑" panose="020B0503020204020204" charset="-122"/>
              </a:rPr>
              <a:t>。</a:t>
            </a:r>
            <a:r>
              <a:rPr sz="1800" i="1">
                <a:latin typeface="Cambria Math" panose="02040503050406030204"/>
              </a:rPr>
              <a:t>*p++</a:t>
            </a:r>
            <a:r>
              <a:rPr sz="1800">
                <a:latin typeface="微软雅黑" panose="020B0503020204020204" charset="-122"/>
              </a:rPr>
              <a:t> 先取值3，然后指针后移，所以值为3。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设有定义 int i; double j=5; 则 </a:t>
            </a:r>
            <a:r>
              <a:rPr sz="1600" i="1">
                <a:latin typeface="Cambria Math" panose="02040503050406030204"/>
              </a:rPr>
              <a:t>10+i+j</a:t>
            </a:r>
            <a:r>
              <a:rPr sz="1600">
                <a:latin typeface="微软雅黑" panose="020B0503020204020204" charset="-122"/>
              </a:rPr>
              <a:t> 值的数据类型是（ ）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int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double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float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不确定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在C++中，表达式涉及不同类型时，进行隐式类型转换到最高精度类型。double 比 int 精度高，所以结果为 double。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5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在不考虑继承的情况下，类的成员函数内能使用的类成员（ ）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只能是类的公有成员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只能是类的私有成员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只能是类的保护成员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可以是类的所有成员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D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类的成员函数可以访问该类的所有成员（公有、私有、保护），无论是否考虑继承。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6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下列说法正确的是（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在函数体内定义的变量可以与全局变量同名。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在函数体内定义的变量不可以与全局变量同名。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在函数体内定义的变量不可以与函数的形参同名。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函数的形参不可以与全局变量同名。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A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在C++中，局部变量可以隐藏全局变量，所以可以同名。选项A正确。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7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下面的说法中，正确的是（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栈是两端都可以插入的队列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栈是只能在一端插入的队列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队列是两端都可以插入的线性表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队列是只能在一端插入的线性表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栈是后进先出（LIFO）结构，只能在一端（栈顶）插入和删除；队列是先进先出（FIFO）结构，在一端插入，另一端删除。选项B正确描述栈。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8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在程序中要从一个磁盘文件读入数据时，需要（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使用cin对象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使用out对象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先定义一个ifstream类的对象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先定义一个ofstream类的对象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在C++中，从文件读入数据使用 ifstream 类对象。cin 用于标准输入，ofstream 用于输出。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9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具有10个叶子节点的二叉树至少有多少层（层的数量）（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4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3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2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1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A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对于二叉树，叶子节点数 </a:t>
            </a:r>
            <a:r>
              <a:rPr sz="1800" i="1">
                <a:latin typeface="Cambria Math" panose="02040503050406030204"/>
              </a:rPr>
              <a:t>L</a:t>
            </a:r>
            <a:r>
              <a:rPr sz="1800">
                <a:latin typeface="微软雅黑" panose="020B0503020204020204" charset="-122"/>
              </a:rPr>
              <a:t> 和层数 </a:t>
            </a:r>
            <a:r>
              <a:rPr sz="1800" i="1">
                <a:latin typeface="Cambria Math" panose="02040503050406030204"/>
              </a:rPr>
              <a:t>h</a:t>
            </a:r>
            <a:r>
              <a:rPr sz="1800">
                <a:latin typeface="微软雅黑" panose="020B0503020204020204" charset="-122"/>
              </a:rPr>
              <a:t> 的关系：在完全二叉树中，最小层数为 </a:t>
            </a:r>
            <a:r>
              <a:rPr sz="1800" i="1">
                <a:latin typeface="Cambria Math" panose="02040503050406030204"/>
              </a:rPr>
              <a:t>⌈ log_2(L+1) ⌉</a:t>
            </a:r>
            <a:r>
              <a:rPr sz="1800">
                <a:latin typeface="微软雅黑" panose="020B0503020204020204" charset="-122"/>
              </a:rPr>
              <a:t>。</a:t>
            </a:r>
            <a:r>
              <a:rPr sz="1800" i="1">
                <a:latin typeface="Cambria Math" panose="02040503050406030204"/>
              </a:rPr>
              <a:t>⌈ log_2(11) ⌉ = 4</a:t>
            </a:r>
            <a:r>
              <a:rPr sz="1800">
                <a:latin typeface="微软雅黑" panose="020B0503020204020204" charset="-122"/>
              </a:rPr>
              <a:t>，所以至少4层。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10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已知：int a=1000；下列定义引用类型变量的方法中，正确的是（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int&amp; x=a;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int &amp;y;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int &amp;z=1000;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int &amp;l=&amp;a;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A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引用必须在定义时初始化，且不能绑定到常量（除非是 const 引用）。选项A正确初始化引用到变量 a。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假定在32位机上，已知：char *s="abcde"；则 sizeof(s), sizeof(*s), strlen(s) 的值依次为（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6, 1, 5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4, 1, 5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6, 4, 5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4, 4, 5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在32位机上，指针大小 sizeof(s) 为4字节，*s 是 char 类型 sizeof(*s)=1，strlen(s) 计算字符串长度不包括空字符为5。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设有语句 int a[][3]={{1},{3,2},{4,5,6},{0}}；则 a[1][3] 的值是（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1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0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4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不存在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D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数组 a 定义为每行3列，a[1][3] 访问第二行第四列，超出边界（索引从0开始），所以不存在。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已知：char *s = "123456"；则 cout &lt;&lt; s+2；的输出结果为（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123456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3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3456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2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s 指向字符串 "123456"，s+2 指向第三个字符 '3'，输出从该位置开始的字符串 "3456"。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若有如下函数原型 void testDefaultParam(int a, int b=7, char z='*'); 下面函数调用中，不合法的是（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testDefaultParam(5);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testDefaultParam(5,8);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testDefaultParam(5, '#');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testDefaultParam(0,0,"*");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D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参数 z 应为 char 类型，但选项D传递字符串 "*"，类型不匹配，不合法。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15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假定 CLS 为一个类，则执行“CLS a(2), b[3], *p[3];”语句时调用该类构造函数的次数为（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3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4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5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8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a(2) 调用构造函数1次，b[3] 是对象数组调用构造函数3次，*p[3] 是指针数组不调用构造函数，总计4次。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16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有关析构函数的说法不正确的是（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析构函数有且只有一个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析构函数无返回值类型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析构函数和构造函数一样可以有形参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析构函数在对象生存期结束时，由系统自动调用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析构函数不能有参数，所以选项C不正确。其他选项正确描述析构函数特性。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17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b="1"/>
            </a:pPr>
            <a:r>
              <a:rPr sz="1600">
                <a:latin typeface="微软雅黑" panose="020B0503020204020204" charset="-122"/>
              </a:rPr>
              <a:t>假定一个类的构造函数为 A(int aa, int bb) {a=aa--; b=a*bb;}; 则执行 A x(4,5); 语句后，x.a 和 x.b 的值分别为（ ）。</a:t>
            </a:r>
            <a:endParaRPr sz="1600"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A) 3和15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B) 5和4</a:t>
            </a:r>
            <a:endParaRPr sz="14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1400">
                <a:latin typeface="微软雅黑" panose="020B0503020204020204" charset="-122"/>
              </a:rPr>
              <a:t>C) 4和20</a:t>
            </a:r>
            <a:r>
              <a:rPr sz="1400"/>
              <a:t>	</a:t>
            </a:r>
            <a:r>
              <a:rPr sz="1400">
                <a:latin typeface="微软雅黑" panose="020B0503020204020204" charset="-122"/>
              </a:rPr>
              <a:t>D) 20和5</a:t>
            </a:r>
            <a:endParaRPr sz="14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C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构造函数中 a=aa--; 先赋值 a=4，然后 aa 减为3；b=a*bb=4*5=20。所以 x.a=4, x.b=20。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2860</Words>
  <Application>WPS 演示</Application>
  <PresentationFormat>宽屏</PresentationFormat>
  <Paragraphs>174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Cambria Math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朱虹霖</cp:lastModifiedBy>
  <cp:revision>3</cp:revision>
  <dcterms:created xsi:type="dcterms:W3CDTF">2013-01-27T09:14:00Z</dcterms:created>
  <dcterms:modified xsi:type="dcterms:W3CDTF">2026-04-12T14:09:50Z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D51A3FD1BB9E4BE9A7382D18CD55646A_12</vt:lpwstr>
  </property>
  <property fmtid="{D5CDD505-2E9C-101B-9397-08002B2CF9AE}" pid="3" name="KSOProductBuildVer">
    <vt:lpwstr>2052-12.1.0.23542</vt:lpwstr>
  </property>
</Properties>
</file>