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公式渲染测试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5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若圆的方程为 </a:t>
            </a:r>
          </a:p>
        </p:txBody>
      </p:sp>
      <p:pic>
        <p:nvPicPr>
          <p:cNvPr id="4" name="Picture 3" descr="latex_f516dc67efdfd0ffdabb0f63cda6db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3300028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57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，则圆的面积为多少？</a:t>
            </a:r>
          </a:p>
        </p:txBody>
      </p:sp>
      <p:sp>
        <p:nvSpPr>
          <p:cNvPr id="6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圆的面积公式为 </a:t>
            </a:r>
          </a:p>
        </p:txBody>
      </p:sp>
      <p:pic>
        <p:nvPicPr>
          <p:cNvPr id="9" name="Picture 8" descr="latex_ecacf4c518f8c900f1ae312c2c64f1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228305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，根据圆的方程 </a:t>
            </a:r>
          </a:p>
        </p:txBody>
      </p:sp>
      <p:pic>
        <p:nvPicPr>
          <p:cNvPr id="11" name="Picture 10" descr="latex_f516dc67efdfd0ffdabb0f63cda6db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897880"/>
            <a:ext cx="3300028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537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可知半径为 </a:t>
            </a:r>
          </a:p>
        </p:txBody>
      </p:sp>
      <p:pic>
        <p:nvPicPr>
          <p:cNvPr id="13" name="Picture 12" descr="latex_4b43b0aee35624cd95b910189b3dc2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858000"/>
            <a:ext cx="38501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7498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，因此面积为 </a:t>
            </a:r>
          </a:p>
        </p:txBody>
      </p:sp>
      <p:pic>
        <p:nvPicPr>
          <p:cNvPr id="15" name="Picture 14" descr="latex_6666716ddb469e1a10b4dedf9a566d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818120"/>
            <a:ext cx="1486637" cy="548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8458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计算定积分 </a:t>
            </a:r>
          </a:p>
        </p:txBody>
      </p:sp>
      <p:pic>
        <p:nvPicPr>
          <p:cNvPr id="4" name="Picture 3" descr="latex_6e44445e5b3e0f6526f55fa93c6c1b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2703607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57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的值。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tab val="7620"/>
            </a:pPr>
            <a:r>
              <a:rPr sz="2000">
                <a:latin typeface="Microsoft YaHei"/>
              </a:rPr>
              <a:t>A) </a:t>
            </a:r>
            <a:r>
              <a:rPr i="1" sz="2000">
                <a:latin typeface="Cambria Math"/>
              </a:rPr>
              <a:t>\frac{1}{2}</a:t>
            </a:r>
            <a:r>
              <a:rPr sz="2000"/>
              <a:t>	</a:t>
            </a:r>
            <a:r>
              <a:rPr sz="2000">
                <a:latin typeface="Microsoft YaHei"/>
              </a:rPr>
              <a:t>B) </a:t>
            </a:r>
            <a:r>
              <a:rPr i="1" sz="2000">
                <a:latin typeface="Cambria Math"/>
              </a:rPr>
              <a:t>\frac{1}{3}</a:t>
            </a:r>
          </a:p>
          <a:p>
            <a:pPr algn="l">
              <a:spcAft>
                <a:spcPts val="1200"/>
              </a:spcAft>
              <a:tab val="7620"/>
            </a:pPr>
            <a:r>
              <a:rPr sz="2000">
                <a:latin typeface="Microsoft YaHei"/>
              </a:rPr>
              <a:t>C) </a:t>
            </a:r>
            <a:r>
              <a:rPr i="1" sz="2000">
                <a:latin typeface="Cambria Math"/>
              </a:rPr>
              <a:t>\frac{1}{4}</a:t>
            </a:r>
            <a:r>
              <a:rPr sz="2000"/>
              <a:t>	</a:t>
            </a:r>
            <a:r>
              <a:rPr sz="2000">
                <a:latin typeface="Microsoft YaHei"/>
              </a:rPr>
              <a:t>D) </a:t>
            </a:r>
            <a:r>
              <a:rPr i="1" sz="2000">
                <a:latin typeface="Cambria Math"/>
              </a:rPr>
              <a:t>1</a:t>
            </a:r>
          </a:p>
        </p:txBody>
      </p:sp>
      <p:sp>
        <p:nvSpPr>
          <p:cNvPr id="7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根据积分公式 </a:t>
            </a:r>
          </a:p>
        </p:txBody>
      </p:sp>
      <p:pic>
        <p:nvPicPr>
          <p:cNvPr id="10" name="Picture 9" descr="latex_0175e9c48aaa36815318ff666b0ab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03520"/>
            <a:ext cx="5486400" cy="4856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8064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，有 </a:t>
            </a:r>
          </a:p>
        </p:txBody>
      </p:sp>
      <p:pic>
        <p:nvPicPr>
          <p:cNvPr id="12" name="Picture 11" descr="latex_f5e387757ead3b7a3cfe3226bdf05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200681"/>
            <a:ext cx="5486400" cy="2620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55415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已知 </a:t>
            </a:r>
          </a:p>
        </p:txBody>
      </p:sp>
      <p:pic>
        <p:nvPicPr>
          <p:cNvPr id="4" name="Picture 3" descr="latex_685fa97b663af18a1bb9f7edb6490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3920121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57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，求 </a:t>
            </a:r>
          </a:p>
        </p:txBody>
      </p:sp>
      <p:pic>
        <p:nvPicPr>
          <p:cNvPr id="6" name="Picture 5" descr="latex_5b5accc52bdd991f203487ac98c019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447761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017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的最大值。</a:t>
            </a:r>
          </a:p>
        </p:txBody>
      </p:sp>
      <p:sp>
        <p:nvSpPr>
          <p:cNvPr id="8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利用和差化积公式：</a:t>
            </a:r>
          </a:p>
        </p:txBody>
      </p:sp>
      <p:pic>
        <p:nvPicPr>
          <p:cNvPr id="11" name="Picture 10" descr="latex_b7b46660faf0868e58f32af4d80873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37760"/>
            <a:ext cx="5486400" cy="131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16084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，最大值为 </a:t>
            </a:r>
          </a:p>
        </p:txBody>
      </p:sp>
      <p:pic>
        <p:nvPicPr>
          <p:cNvPr id="13" name="Picture 12" descr="latex_c81e728d9d4c2f636f067f89cc1486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80888"/>
            <a:ext cx="452387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612096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求极限 </a:t>
            </a:r>
          </a:p>
        </p:txBody>
      </p:sp>
      <p:pic>
        <p:nvPicPr>
          <p:cNvPr id="4" name="Picture 3" descr="latex_1cd6b21194c0a02d1ad15f052c4cb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096512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57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的值。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tab val="7620"/>
            </a:pPr>
            <a:r>
              <a:rPr sz="2000">
                <a:latin typeface="Microsoft YaHei"/>
              </a:rPr>
              <a:t>A) </a:t>
            </a:r>
            <a:r>
              <a:rPr i="1" sz="2000">
                <a:latin typeface="Cambria Math"/>
              </a:rPr>
              <a:t>0</a:t>
            </a:r>
            <a:r>
              <a:rPr sz="2000"/>
              <a:t>	</a:t>
            </a:r>
            <a:r>
              <a:rPr sz="2000">
                <a:latin typeface="Microsoft YaHei"/>
              </a:rPr>
              <a:t>B) </a:t>
            </a:r>
            <a:r>
              <a:rPr i="1" sz="2000">
                <a:latin typeface="Cambria Math"/>
              </a:rPr>
              <a:t>1</a:t>
            </a:r>
          </a:p>
          <a:p>
            <a:pPr algn="l">
              <a:spcAft>
                <a:spcPts val="1200"/>
              </a:spcAft>
              <a:tab val="7620"/>
            </a:pPr>
            <a:r>
              <a:rPr sz="2000">
                <a:latin typeface="Microsoft YaHei"/>
              </a:rPr>
              <a:t>C) </a:t>
            </a:r>
            <a:r>
              <a:rPr i="1" sz="2000">
                <a:latin typeface="Cambria Math"/>
              </a:rPr>
              <a:t>∞</a:t>
            </a:r>
            <a:r>
              <a:rPr sz="2000"/>
              <a:t>	</a:t>
            </a:r>
            <a:r>
              <a:rPr sz="2000">
                <a:latin typeface="Microsoft YaHei"/>
              </a:rPr>
              <a:t>D) 不存在</a:t>
            </a:r>
          </a:p>
        </p:txBody>
      </p:sp>
      <p:sp>
        <p:nvSpPr>
          <p:cNvPr id="7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这是重要的极限公式，</a:t>
            </a:r>
          </a:p>
        </p:txBody>
      </p:sp>
      <p:pic>
        <p:nvPicPr>
          <p:cNvPr id="10" name="Picture 9" descr="latex_ce2262667581c283b79d1178976e59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03520"/>
            <a:ext cx="4645152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。可以用洛必达法则或泰勒展开证明。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计算 </a:t>
            </a:r>
          </a:p>
        </p:txBody>
      </p:sp>
      <p:pic>
        <p:nvPicPr>
          <p:cNvPr id="4" name="Picture 3" descr="latex_e582b4b6b7cec7dac850c23081aee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39041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57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的和。</a:t>
            </a:r>
          </a:p>
        </p:txBody>
      </p:sp>
      <p:sp>
        <p:nvSpPr>
          <p:cNvPr id="6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等差数列求和公式：</a:t>
            </a:r>
          </a:p>
        </p:txBody>
      </p:sp>
      <p:pic>
        <p:nvPicPr>
          <p:cNvPr id="9" name="Picture 8" descr="latex_a0257ee4f5d199303c9dbcdcd5525d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3796588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。可以用数学归纳法证明。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