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批量测试PPT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7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1. Given the sequences of cities: </a:t>
            </a:r>
          </a:p>
        </p:txBody>
      </p:sp>
      <p:pic>
        <p:nvPicPr>
          <p:cNvPr id="4" name="Picture 3" descr="latex_042ead561659ded7aceaed1a6d884c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439973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1226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and the values </a:t>
            </a:r>
          </a:p>
        </p:txBody>
      </p:sp>
      <p:pic>
        <p:nvPicPr>
          <p:cNvPr id="6" name="Picture 5" descr="latex_b37fef8cabe17f651cdddb25ecd436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32304"/>
            <a:ext cx="5486400" cy="1977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72150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and </a:t>
            </a:r>
          </a:p>
        </p:txBody>
      </p:sp>
      <p:pic>
        <p:nvPicPr>
          <p:cNvPr id="8" name="Picture 7" descr="latex_171b82bc8d31a02f1de9c53fb606e1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41549"/>
            <a:ext cx="5486400" cy="265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39811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, write down the values of the sequences: </a:t>
            </a:r>
          </a:p>
        </p:txBody>
      </p:sp>
      <p:pic>
        <p:nvPicPr>
          <p:cNvPr id="10" name="Picture 9" descr="latex_a37bcef8c712ea77371159ca38a1e0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18155"/>
            <a:ext cx="2488130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41309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, </a:t>
            </a:r>
          </a:p>
        </p:txBody>
      </p:sp>
      <p:pic>
        <p:nvPicPr>
          <p:cNvPr id="12" name="Picture 11" descr="latex_9775ffc559469baf54de0424448c7f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33139"/>
            <a:ext cx="4938674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5428083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, </a:t>
            </a:r>
          </a:p>
        </p:txBody>
      </p:sp>
      <p:pic>
        <p:nvPicPr>
          <p:cNvPr id="14" name="Picture 13" descr="latex_be2efff28852dc0b3be49ff2526089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48123"/>
            <a:ext cx="3047695" cy="603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644306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, </a:t>
            </a:r>
          </a:p>
        </p:txBody>
      </p:sp>
      <p:pic>
        <p:nvPicPr>
          <p:cNvPr id="16" name="Picture 15" descr="latex_7fe325402b92ac745937998cd202670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763107"/>
            <a:ext cx="3037636" cy="603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745805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, </a:t>
            </a:r>
          </a:p>
        </p:txBody>
      </p:sp>
      <p:pic>
        <p:nvPicPr>
          <p:cNvPr id="18" name="Picture 17" descr="latex_25388382e43331891f1711b4c568cf0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7778091"/>
            <a:ext cx="5486400" cy="44008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830961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.</a:t>
            </a:r>
          </a:p>
        </p:txBody>
      </p:sp>
      <p:sp>
        <p:nvSpPr>
          <p:cNvPr id="20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$u \frown v = \langle \text{London}, \text{Amsterdam}, \text{Madrid}, \text{Paris}, \text{Frankfurt} \rangle$, $\text{rev}(u \frown v) = \langle \text{Frankfurt}, \text{Paris}, \text{Madrid}, \text{Amsterdam}, \text{London} \rangle$, $\text{rev}(u) = \langle \text{Madrid}, \text{Amsterdam}, \text{London} \rangle$, $\text{rev}(v) = \langle \text{Frankfurt}, \text{Paris} \rangle$, $\text{rev}(v) \frown \text{rev}(u) = \langle \text{Frankfurt}, \text{Paris}, \text{Madrid}, \text{Amsterdam}, \text{London} \rangle$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知识点解析：本题涉及序列（sequences）的基本操作，包括连接（⌢，修复为 LaTeX 符号 \frown）、反转（rev）等。在形式化方法或离散数学中，序列是有序元素的集合。计算时需注意顺序：连接操作将两个序列按顺序合并，反转操作将序列元素顺序颠倒。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2. Referring to Question 1, find the value of </a:t>
            </a:r>
          </a:p>
        </p:txBody>
      </p:sp>
      <p:pic>
        <p:nvPicPr>
          <p:cNvPr id="4" name="Picture 3" descr="latex_031f9a739fabe2614823fbbaf32cd1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486400" cy="198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707102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.</a:t>
            </a:r>
          </a:p>
        </p:txBody>
      </p:sp>
      <p:sp>
        <p:nvSpPr>
          <p:cNvPr id="6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$\text{squash}(2\ldots4 \triangleleft \text{rev}(\mathsf{u} \frown \mathsf{v})) = \{\text{Paris}, \text{Madrid}, \text{Amsterdam}\}$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知识点解析：本题涉及序列操作中的选择（◁，修复为 LaTeX 符号 \triangleleft）和压缩（squash）。选择操作从序列中选取指定索引范围的元素（索引从1开始），压缩操作将序列转换为集合（去除顺序和重复）。首先计算 </a:t>
            </a:r>
          </a:p>
        </p:txBody>
      </p:sp>
      <p:pic>
        <p:nvPicPr>
          <p:cNvPr id="9" name="Picture 8" descr="latex_d3eab8e0ebbed0b2e5b0b24c2e42e7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5486400" cy="1117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140983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，然后选择索引2到4的元素得到 </a:t>
            </a:r>
          </a:p>
        </p:txBody>
      </p:sp>
      <p:pic>
        <p:nvPicPr>
          <p:cNvPr id="11" name="Picture 10" descr="latex_1bdbbf5ffad327f82e954b3ff78135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61023"/>
            <a:ext cx="5486400" cy="2504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80294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，最后压缩为集合。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3. Find the value of </a:t>
            </a:r>
          </a:p>
        </p:txBody>
      </p:sp>
      <p:pic>
        <p:nvPicPr>
          <p:cNvPr id="4" name="Picture 3" descr="latex_34770ed2a5e429ac689338e34f802a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486400" cy="198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707102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.</a:t>
            </a:r>
          </a:p>
        </p:txBody>
      </p:sp>
      <p:sp>
        <p:nvSpPr>
          <p:cNvPr id="6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$\text{squash}(4\ldots2 \triangleleft \text{rev}(\mathsf{u} \frown \mathsf{v})) = \emptyset$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知识点解析：本题同样涉及选择和压缩操作。索引范围 </a:t>
            </a:r>
          </a:p>
        </p:txBody>
      </p:sp>
      <p:pic>
        <p:nvPicPr>
          <p:cNvPr id="9" name="Picture 8" descr="latex_24bc346a861e5c21163546b8595e9e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1671908" cy="493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2297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是无效的（起始索引大于结束索引），在序列操作中通常返回空序列。因此，选择操作得到空序列，压缩后为空集合。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4. Find the value of </a:t>
            </a:r>
          </a:p>
        </p:txBody>
      </p:sp>
      <p:pic>
        <p:nvPicPr>
          <p:cNvPr id="4" name="Picture 3" descr="latex_2ca1a56e5aa33ca7f46647e63c67c4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486400" cy="157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665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.</a:t>
            </a:r>
          </a:p>
        </p:txBody>
      </p:sp>
      <p:sp>
        <p:nvSpPr>
          <p:cNvPr id="6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$\mathsf{u} \sim \mathsf{v}^{\uparrow} \{\text{London}, \text{Moscow}, \text{Paris}, \text{Rome}\} = \{\text{London}, \text{Paris}\}$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知识点解析：本题涉及序列的过滤（~，修复为 LaTeX 符号 ∼）和提升（↑）操作。提升操作将序列转换为集合，过滤操作从集合中选取序列中存在的元素。首先提升 </a:t>
            </a:r>
          </a:p>
        </p:txBody>
      </p:sp>
      <p:pic>
        <p:nvPicPr>
          <p:cNvPr id="9" name="Picture 8" descr="latex_6085e260621fd2cfa871de652a577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2164384" cy="493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2297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为集合 </a:t>
            </a:r>
          </a:p>
        </p:txBody>
      </p:sp>
      <p:pic>
        <p:nvPicPr>
          <p:cNvPr id="11" name="Picture 10" descr="latex_f28f87ebd2847403defc536932613b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843016"/>
            <a:ext cx="5486400" cy="463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9809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，然后与给定集合 </a:t>
            </a:r>
          </a:p>
        </p:txBody>
      </p:sp>
      <p:pic>
        <p:nvPicPr>
          <p:cNvPr id="13" name="Picture 12" descr="latex_9fc00886970660e3ddad5de2517169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6718135"/>
            <a:ext cx="5486400" cy="248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705764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取交集，但根据符号 </a:t>
            </a:r>
          </a:p>
        </p:txBody>
      </p:sp>
      <p:pic>
        <p:nvPicPr>
          <p:cNvPr id="15" name="Picture 14" descr="latex_6588c95074f2609674f5fe10ab63f8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7377681"/>
            <a:ext cx="961563" cy="493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796289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，可能表示过滤操作：从给定集合中选取在 </a:t>
            </a:r>
          </a:p>
        </p:txBody>
      </p:sp>
      <p:pic>
        <p:nvPicPr>
          <p:cNvPr id="17" name="Picture 16" descr="latex_f3fb74329e8a6cdce8b2f277d24b28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8282937"/>
            <a:ext cx="2180844" cy="4937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8868153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或 </a:t>
            </a:r>
          </a:p>
        </p:txBody>
      </p:sp>
      <p:pic>
        <p:nvPicPr>
          <p:cNvPr id="19" name="Picture 18" descr="latex_6085e260621fd2cfa871de652a577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88193"/>
            <a:ext cx="2164384" cy="4937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977340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 中出现的元素。这里 </a:t>
            </a:r>
          </a:p>
        </p:txBody>
      </p:sp>
      <p:pic>
        <p:nvPicPr>
          <p:cNvPr id="21" name="Picture 20" descr="latex_b37fef8cabe17f651cdddb25ecd436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0093449"/>
            <a:ext cx="5486400" cy="1977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4400" y="1038265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</a:t>
            </a:r>
          </a:p>
        </p:txBody>
      </p:sp>
      <p:pic>
        <p:nvPicPr>
          <p:cNvPr id="23" name="Picture 22" descr="latex_171b82bc8d31a02f1de9c53fb606e1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0702695"/>
            <a:ext cx="5486400" cy="26512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" y="1105926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，所以交集为 </a:t>
            </a:r>
          </a:p>
        </p:txBody>
      </p:sp>
      <p:pic>
        <p:nvPicPr>
          <p:cNvPr id="25" name="Picture 24" descr="latex_2f1b202fb09d5340f939935dcd1219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11379301"/>
            <a:ext cx="5486400" cy="49058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1196132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5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5. Find the value of </a:t>
            </a:r>
          </a:p>
        </p:txBody>
      </p:sp>
      <p:pic>
        <p:nvPicPr>
          <p:cNvPr id="4" name="Picture 3" descr="latex_f0f9c3724c99eaa59eeaaf33ceb036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486400" cy="127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3577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.</a:t>
            </a:r>
          </a:p>
        </p:txBody>
      </p:sp>
      <p:sp>
        <p:nvSpPr>
          <p:cNvPr id="6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$\text{tail}(\mathsf{u} \frown \mathsf{v}) \frown \text{front}(\langle \text{Moscow}, \text{Berlin}, \text{Warsaw} \rangle) = \langle \text{Amsterdam}, \text{Madrid}, \text{Paris}, \text{Frankfurt}, \text{Moscow}, \text{Berlin} \rangle$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知识点解析：本题涉及序列的尾部（tail）和前端（front）操作。尾部操作移除序列的第一个元素，前端操作移除序列的最后一个元素。首先计算 </a:t>
            </a:r>
          </a:p>
        </p:txBody>
      </p:sp>
      <p:pic>
        <p:nvPicPr>
          <p:cNvPr id="9" name="Picture 8" descr="latex_13beabfe4d1a45759e8216b86af554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5486400" cy="1220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15125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，尾部得到 </a:t>
            </a:r>
          </a:p>
        </p:txBody>
      </p:sp>
      <p:pic>
        <p:nvPicPr>
          <p:cNvPr id="11" name="Picture 10" descr="latex_2165c4725ae5d26de040837c41f45c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71291"/>
            <a:ext cx="5486400" cy="1958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75856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。然后计算 </a:t>
            </a:r>
          </a:p>
        </p:txBody>
      </p:sp>
      <p:pic>
        <p:nvPicPr>
          <p:cNvPr id="13" name="Picture 12" descr="latex_e67135c90193fad89b250d5ce925e4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6078601"/>
            <a:ext cx="5486400" cy="1294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629947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。最后连接两个序列。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6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1. 设 Instruments 为乐器的给定集合，Actions 为对乐器施行的动作的集合，并有如下两个定义在给定集合 People、Instruments 和 Actions 上的关系。</a:t>
            </a:r>
            <a:br/>
            <a:endParaRPr/>
          </a:p>
        </p:txBody>
      </p:sp>
      <p:pic>
        <p:nvPicPr>
          <p:cNvPr id="4" name="Picture 3" descr="latex_f3a3a44c73084c5364881af68a7793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486400" cy="52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6148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br/>
            <a:endParaRPr/>
          </a:p>
        </p:txBody>
      </p:sp>
      <p:pic>
        <p:nvPicPr>
          <p:cNvPr id="6" name="Picture 5" descr="latex_74e7fb2d0106a69596b47bc86bfcc5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81521"/>
            <a:ext cx="5486400" cy="507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02367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r>
              <a:t>(1) 分别写出 plays 和 worksBy 的 domain 和 range。</a:t>
            </a:r>
            <a:br/>
            <a:r>
              <a:t>(2) 写出它们的类型。</a:t>
            </a:r>
            <a:br/>
            <a:r>
              <a:t>(3) 写出 plays</a:t>
            </a:r>
          </a:p>
        </p:txBody>
      </p:sp>
      <p:pic>
        <p:nvPicPr>
          <p:cNvPr id="8" name="Picture 7" descr="latex_6148e4e9ccb6ee4299939853adff42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43717"/>
            <a:ext cx="202173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03866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以及它的 domain 和 range。</a:t>
            </a:r>
            <a:br/>
            <a:r>
              <a:t>(4) 写出 worksBy</a:t>
            </a:r>
          </a:p>
        </p:txBody>
      </p:sp>
      <p:pic>
        <p:nvPicPr>
          <p:cNvPr id="10" name="Picture 9" descr="latex_6148e4e9ccb6ee4299939853adff42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58701"/>
            <a:ext cx="2021738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05364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 以及它的 domain 和 range。</a:t>
            </a:r>
          </a:p>
        </p:txBody>
      </p:sp>
      <p:sp>
        <p:nvSpPr>
          <p:cNvPr id="12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(1) $\text{domain}(\text{plays}) = \{\text{Ligang}, \text{NiJun}, \text{DaWei}, \text{ZhangHua}, \text{ZhangYing}, \text{GaoLei}\}$, $\text{range}(\text{plays}) = \{\text{piano}, \text{guitar}, \text{violin}, \text{trumpet}, \text{flute}\}$; $\text{domain}(\text{worksBy}) = \{\text{piano}, \text{guitar}, \text{harpsichord}, \text{trumpet}, \text{flute}, \text{violin}\}$, $\text{range}(\text{worksBy}) = \{\text{hammering}, \text{plucking}, \text{blowing}, \text{bowing}, \text{scraping}\}$.</a:t>
            </a:r>
            <a:br/>
            <a:r>
              <a:t>(2) $\text{plays}: \text{People} \leftrightarrow \text{Instruments}$, $\text{worksBy}: \text{Instruments} \leftrightarrow \text{Actions}$.</a:t>
            </a:r>
            <a:br/>
            <a:r>
              <a:t>(3) $\text{plays}^{\sim} = \{(\text{piano} \mapsto \text{Ligang}), (\text{guitar} \mapsto \text{NiJun}), (\text{violin} \mapsto \text{DaWei}), (\text{trumpet} \mapsto \text{ZhangHua}), (\text{flute} \mapsto \text{ZhangYing}), (\text{piano} \mapsto \text{ZhangYing}), (\text{piano} \mapsto \text{GaoLei})\}$, $\text{domain}(\text{plays}^{\sim}) = \{\text{piano}, \text{guitar}, \text{violin}, \text{trumpet}, \text{flute}\}$, $\text{range}(\text{plays}^{\sim}) = \{\text{Ligang}, \text{NiJun}, \text{DaWei}, \text{ZhangHua}, \text{ZhangYing}, \text{GaoLei}\}$.</a:t>
            </a:r>
            <a:br/>
            <a:r>
              <a:t>(4) $\text{worksBy}^{\sim} = \{(\text{hammering} \mapsto \text{piano}), (\text{plucking} \mapsto \text{guitar}), (\text{plucking} \mapsto \text{harpsichord}), (\text{blowing} \mapsto \text{trumpet}), (\text{blowing} \mapsto \text{flute}), (\text{bowing} \mapsto \text{violin}), (\text{scraping} \mapsto \text{violin})\}$, $\text{domain}(\text{worksBy}^{\sim}) = \{\text{hammering}, \text{plucking}, \text{blowing}, \text{bowing}, \text{scraping}\}$, $\text{range}(\text{worksBy}^{\sim}) = \{\text{piano}, \text{guitar}, \text{harpsichord}, \text{trumpet}, \text{flute}, \text{violin}\}$.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知识点解析：本题涉及关系（relations）的基本概念，包括定义域（domain）、值域（range）、类型（type）和逆关系（~，修复为 LaTeX 上标 ^{∼}）。在形式化方法或离散数学中，关系是集合之间的映射。定义域是关系中所有有序对的第一个元素组成的集合，值域是第二个元素组成的集合。类型表示关系涉及的集合。逆关系将有序对中的元素交换顺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7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2. 用上题中定义的关系 plays 和 worksBy 写出如下定义的每一个关系的内容。</a:t>
            </a:r>
            <a:br/>
            <a:r>
              <a:t>(1) </a:t>
            </a:r>
          </a:p>
        </p:txBody>
      </p:sp>
      <p:pic>
        <p:nvPicPr>
          <p:cNvPr id="4" name="Picture 3" descr="latex_13f874ee7dd4f6a8dc8ce976455876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486400" cy="244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75312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r>
              <a:t>(2) </a:t>
            </a:r>
          </a:p>
        </p:txBody>
      </p:sp>
      <p:pic>
        <p:nvPicPr>
          <p:cNvPr id="6" name="Picture 5" descr="latex_d8fa13d7c94c93756b15e31e2d84a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3165"/>
            <a:ext cx="5486400" cy="279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44433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r>
              <a:t>(3) </a:t>
            </a:r>
          </a:p>
        </p:txBody>
      </p:sp>
      <p:pic>
        <p:nvPicPr>
          <p:cNvPr id="8" name="Picture 7" descr="latex_ffee4f539ad772168a0897db4e2307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64379"/>
            <a:ext cx="5486400" cy="369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22555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r>
              <a:t>(4) </a:t>
            </a:r>
          </a:p>
        </p:txBody>
      </p:sp>
      <p:pic>
        <p:nvPicPr>
          <p:cNvPr id="10" name="Picture 9" descr="latex_689d9f0783612e799e37a1a6d96640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45595"/>
            <a:ext cx="5486400" cy="245070"/>
          </a:xfrm>
          <a:prstGeom prst="rect">
            <a:avLst/>
          </a:prstGeom>
        </p:spPr>
      </p:pic>
      <p:sp>
        <p:nvSpPr>
          <p:cNvPr id="11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(1) $\{\text{piano}, \text{harpsichord}\} \triangleleft \text{worksBy} = \{(\text{piano} \mapsto \text{hammering}), (\text{harpsichord} \mapsto \text{plucking})\}$</a:t>
            </a:r>
            <a:br/>
            <a:r>
              <a:t>(2) $\text{plays} \triangleright \{\text{piano}, \text{violin}\} = \{(\text{Ligang} \mapsto \text{piano}), (\text{DaWei} \mapsto \text{violin}), (\text{ZhangYing} \mapsto \text{piano}), (\text{GaoLei} \mapsto \text{piano})\}$</a:t>
            </a:r>
            <a:br/>
            <a:r>
              <a:t>(3) $\text{plays} \triangleright \{\text{piano}\} = \{(\text{Ligang} \mapsto \text{piano}), (\text{ZhangYing} \mapsto \text{piano}), (\text{GaoLei} \mapsto \text{piano})\}$</a:t>
            </a:r>
            <a:br/>
            <a:r>
              <a:t>(4) $\text{worksBy} \triangleright \{\text{bowing}, \text{scraping}\} = \{(\text{violin} \mapsto \text{bowing}), (\text{violin} \mapsto \text{scraping})\}$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知识点解析：本题涉及关系的限制操作，包括域限制（◁，修复为 LaTeX 符号 \triangleleft）和范围限制（▷，修复为 LaTeX 符号 \triangleright）。域限制从关系中选取定义域在指定集合中的有序对，范围限制从关系中选取值域在指定集合中的有序对。在形式化方法中，这些操作用于过滤关系中的元素。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1566</Words>
  <Application>Microsoft Office PowerPoint</Application>
  <PresentationFormat>宽屏</PresentationFormat>
  <Paragraphs>68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名 佚</cp:lastModifiedBy>
  <cp:revision>2</cp:revision>
  <dcterms:created xsi:type="dcterms:W3CDTF">2013-01-27T09:14:16Z</dcterms:created>
  <dcterms:modified xsi:type="dcterms:W3CDTF">2026-04-13T05:16:47Z</dcterms:modified>
  <cp:category/>
</cp:coreProperties>
</file>