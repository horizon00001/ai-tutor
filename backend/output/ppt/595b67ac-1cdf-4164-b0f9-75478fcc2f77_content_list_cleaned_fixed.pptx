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image" Target="../media/image8.png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2" Type="http://schemas.openxmlformats.org/officeDocument/2006/relationships/slideLayout" Target="../slideLayouts/slideLayout7.xml"/><Relationship Id="rId11" Type="http://schemas.openxmlformats.org/officeDocument/2006/relationships/image" Target="../media/image11.png"/><Relationship Id="rId10" Type="http://schemas.openxmlformats.org/officeDocument/2006/relationships/image" Target="../media/image10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4.png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8.png"/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286000"/>
            <a:ext cx="121916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0070C0"/>
                </a:solidFill>
                <a:latin typeface="微软雅黑" panose="020B0503020204020204" charset="-122"/>
              </a:defRPr>
            </a:pPr>
            <a:r>
              <a:t>测试PPT生成2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657600"/>
            <a:ext cx="121916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646464"/>
                </a:solidFill>
                <a:latin typeface="微软雅黑" panose="020B0503020204020204" charset="-122"/>
              </a:defRPr>
            </a:pPr>
            <a:r>
              <a:t>共 3 道题目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82880"/>
            <a:ext cx="121916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70C0"/>
                </a:solidFill>
                <a:latin typeface="微软雅黑" panose="020B0503020204020204" charset="-122"/>
              </a:defRPr>
            </a:pPr>
            <a:r>
              <a:t>第 1 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latin typeface="微软雅黑" panose="020B0503020204020204" charset="-122"/>
              </a:defRPr>
            </a:pPr>
            <a:r>
              <a:t>Given </a:t>
            </a:r>
          </a:p>
        </p:txBody>
      </p:sp>
      <p:pic>
        <p:nvPicPr>
          <p:cNvPr id="4" name="Picture 3" descr="latex_df9eaff9e97b737f527d6fe340a2366c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417320"/>
            <a:ext cx="5486400" cy="46429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1973053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latin typeface="微软雅黑" panose="020B0503020204020204" charset="-122"/>
              </a:defRPr>
            </a:pPr>
            <a:r>
              <a:t> and </a:t>
            </a:r>
          </a:p>
        </p:txBody>
      </p:sp>
      <p:pic>
        <p:nvPicPr>
          <p:cNvPr id="6" name="Picture 5" descr="latex_f4b9c4efbe151527da10928d2624069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293093"/>
            <a:ext cx="2776118" cy="60350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2988037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latin typeface="微软雅黑" panose="020B0503020204020204" charset="-122"/>
              </a:defRPr>
            </a:pPr>
            <a:r>
              <a:t>, write down the Cartesian product of the following:</a:t>
            </a:r>
            <a:br/>
            <a:r>
              <a:t>(1) </a:t>
            </a:r>
          </a:p>
        </p:txBody>
      </p:sp>
      <p:pic>
        <p:nvPicPr>
          <p:cNvPr id="8" name="Picture 7" descr="latex_3a9bde9528ffb7fd51bedc6ded9ee97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308077"/>
            <a:ext cx="5109667" cy="60350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14400" y="4003021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latin typeface="微软雅黑" panose="020B0503020204020204" charset="-122"/>
              </a:defRPr>
            </a:pPr>
            <a:br/>
            <a:r>
              <a:t>(2) </a:t>
            </a:r>
          </a:p>
        </p:txBody>
      </p:sp>
      <p:pic>
        <p:nvPicPr>
          <p:cNvPr id="10" name="Picture 9" descr="latex_d44da1a74693804b3f4d3f1fe2c4a2e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323061"/>
            <a:ext cx="3580790" cy="60350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14400" y="5018005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latin typeface="微软雅黑" panose="020B0503020204020204" charset="-122"/>
              </a:defRPr>
            </a:pPr>
            <a:br/>
            <a:r>
              <a:t>(3) </a:t>
            </a:r>
          </a:p>
        </p:txBody>
      </p:sp>
      <p:pic>
        <p:nvPicPr>
          <p:cNvPr id="12" name="Picture 11" descr="latex_f65199443f7294d05aa817690401c0d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5338045"/>
            <a:ext cx="3677602" cy="603504"/>
          </a:xfrm>
          <a:prstGeom prst="rect">
            <a:avLst/>
          </a:prstGeom>
        </p:spPr>
      </p:pic>
      <p:sp>
        <p:nvSpPr>
          <p:cNvPr id="13" name="AnimatedAnswerShape"/>
          <p:cNvSpPr txBox="1"/>
          <p:nvPr/>
        </p:nvSpPr>
        <p:spPr>
          <a:xfrm>
            <a:off x="914400" y="384048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009600"/>
                </a:solidFill>
              </a:defRPr>
            </a:pPr>
            <a:r>
              <a:t>【正确答案】 (1) $\{ (\mathsf{a}, 1, 1), (\mathsf{a}, 1, 2), (\mathsf{b}, 1, 1), (\mathsf{b}, 1, 2) \}$</a:t>
            </a:r>
            <a:br/>
            <a:r>
              <a:t>(2) $\{ ((\mathsf{a}, \mathsf{a}), 1), ((\mathsf{a}, \mathsf{a}), 2), ((\mathsf{a}, \mathsf{b}), 1), ((\mathsf{a}, \mathsf{b}), 2), ((\mathsf{b}, \mathsf{a}), 1), ((\mathsf{b}, \mathsf{a}), 2), ((\mathsf{b}, \mathsf{b}), 1), ((\mathsf{b}, \mathsf{b}), 2) \}$</a:t>
            </a:r>
            <a:br/>
            <a:r>
              <a:t>(3) $\{ ((1, \mathsf{a}), (1, \mathsf{a})), ((1, \mathsf{a}), (1, \mathsf{b})), ((1, \mathsf{a}), (2, \mathsf{a})), ((1, \mathsf{a}), (2, \mathsf{b})), ((1, \mathsf{b}), (1, \mathsf{a})), ((1, \mathsf{b}), (1, \mathsf{b})), ((1, \mathsf{b}), (2, \mathsf{a})), ((1, \mathsf{b}), (2, \mathsf{b})), ((2, \mathsf{a}), (1, \mathsf{a})), ((2, \mathsf{a}), (1, \mathsf{b})), ((2, \mathsf{a}), (2, \mathsf{a})), ((2, \mathsf{a}), (2, \mathsf{b})), ((2, \mathsf{b}), (1, \mathsf{a})), ((2, \mathsf{b}), (1, \mathsf{b})), ((2, \mathsf{b}), (2, \mathsf{a})), ((2, \mathsf{b}), (2, \mathsf{b})) \}$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29768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latin typeface="微软雅黑" panose="020B0503020204020204" charset="-122"/>
              </a:defRPr>
            </a:pPr>
            <a:r>
              <a:t>【解析】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6177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latin typeface="微软雅黑" panose="020B0503020204020204" charset="-122"/>
              </a:defRPr>
            </a:pPr>
            <a:r>
              <a:t>1. 知识点解析：本题考查集合论中的笛卡尔积运算，包括基本定义、幂集和多重笛卡尔积的计算。2. 解题思路：对于(1)，先计算 </a:t>
            </a:r>
          </a:p>
        </p:txBody>
      </p:sp>
      <p:pic>
        <p:nvPicPr>
          <p:cNvPr id="16" name="Picture 15" descr="latex_b2d6172a0702fa1b27177093d69615a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4937760"/>
            <a:ext cx="2394813" cy="493776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14400" y="5522976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latin typeface="微软雅黑" panose="020B0503020204020204" charset="-122"/>
              </a:defRPr>
            </a:pPr>
            <a:r>
              <a:t> 得到 </a:t>
            </a:r>
          </a:p>
        </p:txBody>
      </p:sp>
      <p:pic>
        <p:nvPicPr>
          <p:cNvPr id="18" name="Picture 17" descr="latex_c9a6c6e4de3c27e321b341d8d715aba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4400" y="5843016"/>
            <a:ext cx="5486400" cy="430306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914400" y="6364761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latin typeface="微软雅黑" panose="020B0503020204020204" charset="-122"/>
              </a:defRPr>
            </a:pPr>
            <a:r>
              <a:t>，再与 </a:t>
            </a:r>
          </a:p>
        </p:txBody>
      </p:sp>
      <p:pic>
        <p:nvPicPr>
          <p:cNvPr id="20" name="Picture 19" descr="latex_9d5ed678fe57bcca610140957afab571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4400" y="6684801"/>
            <a:ext cx="424474" cy="493776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914400" y="7270017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latin typeface="微软雅黑" panose="020B0503020204020204" charset="-122"/>
              </a:defRPr>
            </a:pPr>
            <a:r>
              <a:t> 做笛卡尔积；对于(2)，</a:t>
            </a:r>
          </a:p>
        </p:txBody>
      </p:sp>
      <p:pic>
        <p:nvPicPr>
          <p:cNvPr id="22" name="Picture 21" descr="latex_9ec3eff42c04d6d161746ea7547947c0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4400" y="7590057"/>
            <a:ext cx="1374343" cy="493776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914400" y="8175273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latin typeface="微软雅黑" panose="020B0503020204020204" charset="-122"/>
              </a:defRPr>
            </a:pPr>
            <a:r>
              <a:t> 表示 </a:t>
            </a:r>
          </a:p>
        </p:txBody>
      </p:sp>
      <p:pic>
        <p:nvPicPr>
          <p:cNvPr id="24" name="Picture 23" descr="latex_e8ef589588e5bf88d8d72f68b28b09ff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4400" y="8495313"/>
            <a:ext cx="2079056" cy="493776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914400" y="9080529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latin typeface="微软雅黑" panose="020B0503020204020204" charset="-122"/>
              </a:defRPr>
            </a:pPr>
            <a:r>
              <a:t>，计算后与 </a:t>
            </a:r>
          </a:p>
        </p:txBody>
      </p:sp>
      <p:pic>
        <p:nvPicPr>
          <p:cNvPr id="26" name="Picture 25" descr="latex_9d5ed678fe57bcca610140957afab571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4400" y="9400569"/>
            <a:ext cx="424474" cy="493776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914400" y="9985785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latin typeface="微软雅黑" panose="020B0503020204020204" charset="-122"/>
              </a:defRPr>
            </a:pPr>
            <a:r>
              <a:t> 做笛卡尔积；对于(3)，先计算 </a:t>
            </a:r>
          </a:p>
        </p:txBody>
      </p:sp>
      <p:pic>
        <p:nvPicPr>
          <p:cNvPr id="28" name="Picture 27" descr="latex_cc4028518675588228ac37bafcd5721c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14400" y="10305825"/>
            <a:ext cx="2079056" cy="493776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914400" y="10891041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latin typeface="微软雅黑" panose="020B0503020204020204" charset="-122"/>
              </a:defRPr>
            </a:pPr>
            <a:r>
              <a:t>，然后取该集合的平方（即与自身的笛卡尔积）。3. 易错提醒：注意笛卡尔积的顺序和括号的使用，避免混淆元素顺序；在计算幂集或平方时，确保所有组合都被列出。4. 方法技巧：使用系统性的枚举方法，按顺序列出所有可能的有序对或元组。5. 举一反三：笛卡尔积是关系数据库和形式化方法中定义关系的基础，可延伸学习关系代数和Z语言中的模式定义。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82880"/>
            <a:ext cx="121916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70C0"/>
                </a:solidFill>
                <a:latin typeface="微软雅黑" panose="020B0503020204020204" charset="-122"/>
              </a:defRPr>
            </a:pPr>
            <a:r>
              <a:t>第 2 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latin typeface="微软雅黑" panose="020B0503020204020204" charset="-122"/>
              </a:defRPr>
            </a:pPr>
            <a:r>
              <a:t>Given the set </a:t>
            </a:r>
          </a:p>
        </p:txBody>
      </p:sp>
      <p:pic>
        <p:nvPicPr>
          <p:cNvPr id="4" name="Picture 3" descr="latex_df9eaff9e97b737f527d6fe340a2366c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417320"/>
            <a:ext cx="5486400" cy="46429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1973053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latin typeface="微软雅黑" panose="020B0503020204020204" charset="-122"/>
              </a:defRPr>
            </a:pPr>
            <a:r>
              <a:t>, write down </a:t>
            </a:r>
          </a:p>
        </p:txBody>
      </p:sp>
      <p:pic>
        <p:nvPicPr>
          <p:cNvPr id="6" name="Picture 5" descr="latex_4830e39ddedb969e46d4e9f765aea65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293093"/>
            <a:ext cx="5411419" cy="60350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2988037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latin typeface="微软雅黑" panose="020B0503020204020204" charset="-122"/>
              </a:defRPr>
            </a:pPr>
            <a:r>
              <a:t>.</a:t>
            </a:r>
          </a:p>
        </p:txBody>
      </p:sp>
      <p:sp>
        <p:nvSpPr>
          <p:cNvPr id="8" name="AnimatedAnswerShape"/>
          <p:cNvSpPr txBox="1"/>
          <p:nvPr/>
        </p:nvSpPr>
        <p:spPr>
          <a:xfrm>
            <a:off x="914400" y="384048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009600"/>
                </a:solidFill>
              </a:defRPr>
            </a:pPr>
            <a:r>
              <a:t>【正确答案】 $\{ (\emptyset, \mathsf{a}), (\emptyset, \mathsf{b}), (\{\mathsf{a}\}, \mathsf{a}), (\{\mathsf{a}\}, \mathsf{b}), (\{\mathsf{b}\}, \mathsf{a}), (\{\mathsf{b}\}, \mathsf{b}), (\{\mathsf{a}, \mathsf{b}\}, \mathsf{a}), (\{\mathsf{a}, \mathsf{b}\}, \mathsf{b}) \}$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9768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latin typeface="微软雅黑" panose="020B0503020204020204" charset="-122"/>
              </a:defRPr>
            </a:pPr>
            <a:r>
              <a:t>【解析】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6177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latin typeface="微软雅黑" panose="020B0503020204020204" charset="-122"/>
              </a:defRPr>
            </a:pPr>
            <a:r>
              <a:t>1. 知识点解析：本题考查集合论中的幂集和笛卡尔积运算。2. 解题思路：首先计算 </a:t>
            </a:r>
          </a:p>
        </p:txBody>
      </p:sp>
      <p:pic>
        <p:nvPicPr>
          <p:cNvPr id="11" name="Picture 10" descr="latex_7fc56270e7a70fa81a5935b72eacbe2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937760"/>
            <a:ext cx="424474" cy="49377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14400" y="5522976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latin typeface="微软雅黑" panose="020B0503020204020204" charset="-122"/>
              </a:defRPr>
            </a:pPr>
            <a:r>
              <a:t> 的幂集 </a:t>
            </a:r>
          </a:p>
        </p:txBody>
      </p:sp>
      <p:pic>
        <p:nvPicPr>
          <p:cNvPr id="13" name="Picture 12" descr="latex_263fbc79264452d115d9d480429ccb8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5843016"/>
            <a:ext cx="5486400" cy="17381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14400" y="6108271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latin typeface="微软雅黑" panose="020B0503020204020204" charset="-122"/>
              </a:defRPr>
            </a:pPr>
            <a:r>
              <a:t>，然后计算 </a:t>
            </a:r>
          </a:p>
        </p:txBody>
      </p:sp>
      <p:pic>
        <p:nvPicPr>
          <p:cNvPr id="15" name="Picture 14" descr="latex_4830e39ddedb969e46d4e9f765aea65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6428311"/>
            <a:ext cx="4427524" cy="49377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14400" y="7013527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latin typeface="微软雅黑" panose="020B0503020204020204" charset="-122"/>
              </a:defRPr>
            </a:pPr>
            <a:r>
              <a:t>，列出所有有序对。3. 易错提醒：幂集包含空集和所有子集，不要遗漏；注意有序对的书写格式。4. 方法技巧：先列出幂集元素，再与 </a:t>
            </a:r>
          </a:p>
        </p:txBody>
      </p:sp>
      <p:pic>
        <p:nvPicPr>
          <p:cNvPr id="17" name="Picture 16" descr="latex_7fc56270e7a70fa81a5935b72eacbe2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7333567"/>
            <a:ext cx="424474" cy="49377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914400" y="7918783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latin typeface="微软雅黑" panose="020B0503020204020204" charset="-122"/>
              </a:defRPr>
            </a:pPr>
            <a:r>
              <a:t> 中元素配对。5. 举一反三：幂集在形式化方法中用于定义状态空间，笛卡尔积用于构建复合类型。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82880"/>
            <a:ext cx="121916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70C0"/>
                </a:solidFill>
                <a:latin typeface="微软雅黑" panose="020B0503020204020204" charset="-122"/>
              </a:defRPr>
            </a:pPr>
            <a:r>
              <a:t>第 3 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6289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200" b="1"/>
            </a:pPr>
            <a:r>
              <a:rPr>
                <a:latin typeface="微软雅黑" panose="020B0503020204020204" charset="-122"/>
              </a:rPr>
              <a:t>Using Sets and Logic Operators to Describe a System. Referring to Question 1, Chapter 2, and its development in exercises of Chapter 3, give full descriptions in the manner of Chapter 5 for:
(1) A suitable type for the response from any of the following operations.
(2) The operation to register a new user.
(3) The operation to remove a user’s registration.
(4) The operation to log in.
(5) The operation to log out.</a:t>
            </a:r>
            <a:endParaRPr>
              <a:latin typeface="微软雅黑" panose="020B0503020204020204" charset="-122"/>
            </a:endParaRPr>
          </a:p>
        </p:txBody>
      </p:sp>
      <p:sp>
        <p:nvSpPr>
          <p:cNvPr id="4" name="AnimatedAnswerShape"/>
          <p:cNvSpPr txBox="1"/>
          <p:nvPr/>
        </p:nvSpPr>
        <p:spPr>
          <a:xfrm>
            <a:off x="914400" y="384048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009600"/>
                </a:solidFill>
              </a:defRPr>
            </a:pPr>
            <a:r>
              <a:t>【正确答案】 Based on typical formal methods (e.g., Z notation) for user management systems:</a:t>
            </a:r>
            <a:br/>
            <a:r>
              <a:t>(1) Response type: $\text{Response} ::= \text{Success} | \text{Failure} \langle \text{ErrorMsg} \rangle$</a:t>
            </a:r>
            <a:br/>
            <a:r>
              <a:t>(2) Register operation: $\text{Register} \triangleq [\Delta \text{UserDB}; \text{uid?}: \text{USERID}; \text{pass?}: \text{PASSWORD} | \text{uid?} \notin \text{dom} \text{UserDB} \land \text{UserDB}' = \text{UserDB} \cup \{ \text{uid?} \mapsto \text{pass?} \} ]$</a:t>
            </a:r>
            <a:br/>
            <a:r>
              <a:t>(3) Remove operation: $\text{Remove} \triangleq [\Delta \text{UserDB}; \text{uid?}: \text{USERID} | \text{uid?} \in \text{dom} \text{UserDB} \land \text{UserDB}' = \{ \text{uid?} \} \triangleleft \text{UserDB} ]$</a:t>
            </a:r>
            <a:br/>
            <a:r>
              <a:t>(4) Login operation: $\text{Login} \triangleq [\Xi \text{UserDB}; \text{uid?}: \text{USERID}; \text{pass?}: \text{PASSWORD}; \text{session!}: \text{SESSIONID} | \text{uid?} \in \text{dom} \text{UserDB} \land \text{UserDB}(\text{uid?}) = \text{pass?} \land \text{session!} = \text{generateSession}(\text{uid?}) ]$</a:t>
            </a:r>
            <a:br/>
            <a:r>
              <a:t>(5) Logout operation: $\text{Logout} \triangleq [\Xi \text{UserDB}; \text{session?}: \text{SESSIONID} | \text{session?} \in \text{activeSessions} \land \text{activeSessions}' = \text{activeSessions} \setminus \{ \text{session?} \} ]$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29768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latin typeface="微软雅黑" panose="020B0503020204020204" charset="-122"/>
              </a:defRPr>
            </a:pPr>
            <a:r>
              <a:t>【解析】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6177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latin typeface="微软雅黑" panose="020B0503020204020204" charset="-122"/>
              </a:defRPr>
            </a:pPr>
            <a:r>
              <a:t>1. 知识点解析：本题考查形式化方法（如Z语言）中如何使用集合和逻辑运算符描述系统操作，涉及类型定义、模式、前置和后置条件。2. 解题思路：基于用户管理系统上下文，定义响应类型，并使用Z模式描述每个操作的状态变化和约束。3. 易错提醒：确保操作符（如 </a:t>
            </a:r>
          </a:p>
        </p:txBody>
      </p:sp>
      <p:pic>
        <p:nvPicPr>
          <p:cNvPr id="7" name="Picture 6" descr="latex_844aaca57cbd194e3777cd7a5bdaf004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4937760"/>
            <a:ext cx="2142350" cy="49377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14400" y="5522976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latin typeface="微软雅黑" panose="020B0503020204020204" charset="-122"/>
              </a:defRPr>
            </a:pPr>
            <a:r>
              <a:t>, </a:t>
            </a:r>
          </a:p>
        </p:txBody>
      </p:sp>
      <p:pic>
        <p:nvPicPr>
          <p:cNvPr id="9" name="Picture 8" descr="latex_8722439958298b3dfbd60cded8990f4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5843016"/>
            <a:ext cx="1584861" cy="49377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14400" y="6428232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latin typeface="微软雅黑" panose="020B0503020204020204" charset="-122"/>
              </a:defRPr>
            </a:pPr>
            <a:r>
              <a:t>, </a:t>
            </a:r>
          </a:p>
        </p:txBody>
      </p:sp>
      <p:pic>
        <p:nvPicPr>
          <p:cNvPr id="11" name="Picture 10" descr="latex_8ec9ed3c7543e2c6a4d060376450e92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6748272"/>
            <a:ext cx="658368" cy="49377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14400" y="7333488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latin typeface="微软雅黑" panose="020B0503020204020204" charset="-122"/>
              </a:defRPr>
            </a:pPr>
            <a:r>
              <a:t>）正确使用；区分输入（?）、输出（!）和状态变量；逻辑条件需精确。4. 方法技巧：参考Z语言标准库和常见模式，如 </a:t>
            </a:r>
          </a:p>
        </p:txBody>
      </p:sp>
      <p:pic>
        <p:nvPicPr>
          <p:cNvPr id="13" name="Picture 12" descr="latex_967878d1da852d4b07a961e3168b0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7653528"/>
            <a:ext cx="1282085" cy="49377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14400" y="8238744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latin typeface="微软雅黑" panose="020B0503020204020204" charset="-122"/>
              </a:defRPr>
            </a:pPr>
            <a:r>
              <a:t> 表示状态改变，</a:t>
            </a:r>
          </a:p>
        </p:txBody>
      </p:sp>
      <p:pic>
        <p:nvPicPr>
          <p:cNvPr id="15" name="Picture 14" descr="latex_8ec9ed3c7543e2c6a4d060376450e92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8558784"/>
            <a:ext cx="658368" cy="49377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14400" y="914400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latin typeface="微软雅黑" panose="020B0503020204020204" charset="-122"/>
              </a:defRPr>
            </a:pPr>
            <a:r>
              <a:t> 表示状态不变。5. 举一反三：此方法可应用于软件规范、协议验证等领域，延伸学习VDM、Alloy等形式化语言。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3681</Words>
  <Application>WPS 演示</Application>
  <PresentationFormat>On-screen Show (4:3)</PresentationFormat>
  <Paragraphs>78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1" baseType="lpstr">
      <vt:lpstr>Arial</vt:lpstr>
      <vt:lpstr>宋体</vt:lpstr>
      <vt:lpstr>Wingdings</vt:lpstr>
      <vt:lpstr>Arial</vt:lpstr>
      <vt:lpstr>微软雅黑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朱虹霖</cp:lastModifiedBy>
  <cp:revision>2</cp:revision>
  <dcterms:created xsi:type="dcterms:W3CDTF">2013-01-27T09:14:00Z</dcterms:created>
  <dcterms:modified xsi:type="dcterms:W3CDTF">2026-04-13T05:15:42Z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94AAA56027BE4DFE8AA50C697B3EE452_12</vt:lpwstr>
  </property>
  <property fmtid="{D5CDD505-2E9C-101B-9397-08002B2CF9AE}" pid="3" name="KSOProductBuildVer">
    <vt:lpwstr>2052-12.1.0.23542</vt:lpwstr>
  </property>
</Properties>
</file>