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70C0"/>
                </a:solidFill>
                <a:latin typeface="Microsoft YaHei"/>
              </a:defRPr>
            </a:pPr>
            <a:r>
              <a:t>测试PPT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6576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6464"/>
                </a:solidFill>
                <a:latin typeface="Microsoft YaHei"/>
              </a:defRPr>
            </a:pPr>
            <a:r>
              <a:t>共 3 道题目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1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200" b="1"/>
            </a:pPr>
            <a:r>
              <a:rPr>
                <a:latin typeface="Microsoft YaHei"/>
              </a:rPr>
              <a:t>Given </a:t>
            </a:r>
            <a:r>
              <a:rPr i="1">
                <a:latin typeface="Cambria Math"/>
              </a:rPr>
              <a:t>A = { \mathsf{a}, \mathsf{b} }</a:t>
            </a:r>
            <a:r>
              <a:rPr>
                <a:latin typeface="Microsoft YaHei"/>
              </a:rPr>
              <a:t> and </a:t>
            </a:r>
            <a:r>
              <a:rPr i="1">
                <a:latin typeface="Cambria Math"/>
              </a:rPr>
              <a:t>B = { 1, 2 }</a:t>
            </a:r>
            <a:r>
              <a:rPr>
                <a:latin typeface="Microsoft YaHei"/>
              </a:rPr>
              <a:t>, write down the Cartesian product of the following:
(1) </a:t>
            </a:r>
            <a:r>
              <a:rPr i="1">
                <a:latin typeface="Cambria Math"/>
              </a:rPr>
              <a:t>A × { 1 } × B</a:t>
            </a:r>
            <a:r>
              <a:rPr>
                <a:latin typeface="Microsoft YaHei"/>
              </a:rPr>
              <a:t>
(2) </a:t>
            </a:r>
            <a:r>
              <a:rPr i="1">
                <a:latin typeface="Cambria Math"/>
              </a:rPr>
              <a:t>A^{2} × B</a:t>
            </a:r>
            <a:r>
              <a:rPr>
                <a:latin typeface="Microsoft YaHei"/>
              </a:rPr>
              <a:t>
(3) </a:t>
            </a:r>
            <a:r>
              <a:rPr i="1">
                <a:latin typeface="Cambria Math"/>
              </a:rPr>
              <a:t>(B × A)^{2}</a:t>
            </a:r>
          </a:p>
        </p:txBody>
      </p:sp>
      <p:sp>
        <p:nvSpPr>
          <p:cNvPr id="4" name="AnimatedAnswerShape"/>
          <p:cNvSpPr txBox="1"/>
          <p:nvPr/>
        </p:nvSpPr>
        <p:spPr>
          <a:xfrm>
            <a:off x="914400" y="384048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1">
                <a:solidFill>
                  <a:srgbClr val="009600"/>
                </a:solidFill>
              </a:defRPr>
            </a:pPr>
            <a:r>
              <a:t>【正确答案】 (1) $\{ (\mathsf{a}, 1, 1), (\mathsf{a}, 1, 2), (\mathsf{b}, 1, 1), (\mathsf{b}, 1, 2) \}$</a:t>
            </a:r>
            <a:br/>
            <a:r>
              <a:t>(2) $\{ ((\mathsf{a}, \mathsf{a}), 1), ((\mathsf{a}, \mathsf{a}), 2), ((\mathsf{a}, \mathsf{b}), 1), ((\mathsf{a}, \mathsf{b}), 2), ((\mathsf{b}, \mathsf{a}), 1), ((\mathsf{b}, \mathsf{a}), 2), ((\mathsf{b}, \mathsf{b}), 1), ((\mathsf{b}, \mathsf{b}), 2) \}$</a:t>
            </a:r>
            <a:br/>
            <a:r>
              <a:t>(3) $\{ ((1, \mathsf{a}), (1, \mathsf{a})), ((1, \mathsf{a}), (1, \mathsf{b})), ((1, \mathsf{a}), (2, \mathsf{a})), ((1, \mathsf{a}), (2, \mathsf{b})), ((1, \mathsf{b}), (1, \mathsf{a})), ((1, \mathsf{b}), (1, \mathsf{b})), ((1, \mathsf{b}), (2, \mathsf{a})), ((1, \mathsf{b}), (2, \mathsf{b})), ((2, \mathsf{a}), (1, \mathsf{a})), ((2, \mathsf{a}), (1, \mathsf{b})), ((2, \mathsf{a}), (2, \mathsf{a})), ((2, \mathsf{a}), (2, \mathsf{b})), ((2, \mathsf{b}), (1, \mathsf{a})), ((2, \mathsf{b}), (1, \mathsf{b})), ((2, \mathsf{b}), (2, \mathsf{a})), ((2, \mathsf{b}), (2, \mathsf{b})) \}$</a:t>
            </a:r>
          </a:p>
          <a:p>
            <a:pPr algn="l"/>
            <a:r>
              <a:rPr b="1" sz="1800">
                <a:solidFill>
                  <a:srgbClr val="646464"/>
                </a:solidFill>
              </a:rPr>
              <a:t>【解析】 </a:t>
            </a:r>
            <a:r>
              <a:rPr sz="1800">
                <a:latin typeface="Microsoft YaHei"/>
              </a:rPr>
              <a:t>1. 知识点解析：本题考查集合论中的笛卡尔积运算，包括基本定义、幂集和多重笛卡尔积的计算。
2. 解题思路：对于(1)，先计算 </a:t>
            </a:r>
            <a:r>
              <a:rPr i="1" sz="1800">
                <a:latin typeface="Cambria Math"/>
              </a:rPr>
              <a:t>A × {1}</a:t>
            </a:r>
            <a:r>
              <a:rPr sz="1800">
                <a:latin typeface="Microsoft YaHei"/>
              </a:rPr>
              <a:t> 得到 </a:t>
            </a:r>
            <a:r>
              <a:rPr i="1" sz="1800">
                <a:latin typeface="Cambria Math"/>
              </a:rPr>
              <a:t>{(\mathsf{a}, 1), (\mathsf{b}, 1)}</a:t>
            </a:r>
            <a:r>
              <a:rPr sz="1800">
                <a:latin typeface="Microsoft YaHei"/>
              </a:rPr>
              <a:t>，再与 </a:t>
            </a:r>
            <a:r>
              <a:rPr i="1" sz="1800">
                <a:latin typeface="Cambria Math"/>
              </a:rPr>
              <a:t>B</a:t>
            </a:r>
            <a:r>
              <a:rPr sz="1800">
                <a:latin typeface="Microsoft YaHei"/>
              </a:rPr>
              <a:t> 笛卡尔积；对于(2)，</a:t>
            </a:r>
            <a:r>
              <a:rPr i="1" sz="1800">
                <a:latin typeface="Cambria Math"/>
              </a:rPr>
              <a:t>A^{2}</a:t>
            </a:r>
            <a:r>
              <a:rPr sz="1800">
                <a:latin typeface="Microsoft YaHei"/>
              </a:rPr>
              <a:t> 表示 </a:t>
            </a:r>
            <a:r>
              <a:rPr i="1" sz="1800">
                <a:latin typeface="Cambria Math"/>
              </a:rPr>
              <a:t>A × A</a:t>
            </a:r>
            <a:r>
              <a:rPr sz="1800">
                <a:latin typeface="Microsoft YaHei"/>
              </a:rPr>
              <a:t>，计算后再与 </a:t>
            </a:r>
            <a:r>
              <a:rPr i="1" sz="1800">
                <a:latin typeface="Cambria Math"/>
              </a:rPr>
              <a:t>B</a:t>
            </a:r>
            <a:r>
              <a:rPr sz="1800">
                <a:latin typeface="Microsoft YaHei"/>
              </a:rPr>
              <a:t> 笛卡尔积；对于(3)，先计算 </a:t>
            </a:r>
            <a:r>
              <a:rPr i="1" sz="1800">
                <a:latin typeface="Cambria Math"/>
              </a:rPr>
              <a:t>B × A</a:t>
            </a:r>
            <a:r>
              <a:rPr sz="1800">
                <a:latin typeface="Microsoft YaHei"/>
              </a:rPr>
              <a:t>，再求其平方即笛卡尔积自身。
3. 易错提醒：注意笛卡尔积的顺序和括号，如 </a:t>
            </a:r>
            <a:r>
              <a:rPr i="1" sz="1800">
                <a:latin typeface="Cambria Math"/>
              </a:rPr>
              <a:t>A^{2}</a:t>
            </a:r>
            <a:r>
              <a:rPr sz="1800">
                <a:latin typeface="Microsoft YaHei"/>
              </a:rPr>
              <a:t> 是 </a:t>
            </a:r>
            <a:r>
              <a:rPr i="1" sz="1800">
                <a:latin typeface="Cambria Math"/>
              </a:rPr>
              <a:t>A × A</a:t>
            </a:r>
            <a:r>
              <a:rPr sz="1800">
                <a:latin typeface="Microsoft YaHei"/>
              </a:rPr>
              <a:t>，不是 </a:t>
            </a:r>
            <a:r>
              <a:rPr i="1" sz="1800">
                <a:latin typeface="Cambria Math"/>
              </a:rPr>
              <a:t>A</a:t>
            </a:r>
            <a:r>
              <a:rPr sz="1800">
                <a:latin typeface="Microsoft YaHei"/>
              </a:rPr>
              <a:t> 的幂集；多重笛卡尔积需逐层计算。
4. 方法技巧：列出所有有序对时，可系统枚举元素，避免遗漏。
5. 举一反三：笛卡尔积在关系、函数和数据库中有广泛应用，可延伸学习集合运算和关系代数。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2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200" b="1"/>
            </a:pPr>
            <a:r>
              <a:rPr>
                <a:latin typeface="Microsoft YaHei"/>
              </a:rPr>
              <a:t>Given the set </a:t>
            </a:r>
            <a:r>
              <a:rPr i="1">
                <a:latin typeface="Cambria Math"/>
              </a:rPr>
              <a:t>A = { \mathsf{a}, \mathsf{b} }</a:t>
            </a:r>
            <a:r>
              <a:rPr>
                <a:latin typeface="Microsoft YaHei"/>
              </a:rPr>
              <a:t>, write down </a:t>
            </a:r>
            <a:r>
              <a:rPr i="1">
                <a:latin typeface="Cambria Math"/>
              </a:rPr>
              <a:t>\mathrm{P}(A) × A</a:t>
            </a:r>
            <a:r>
              <a:rPr>
                <a:latin typeface="Microsoft YaHei"/>
              </a:rPr>
              <a:t>.</a:t>
            </a:r>
          </a:p>
        </p:txBody>
      </p:sp>
      <p:sp>
        <p:nvSpPr>
          <p:cNvPr id="4" name="AnimatedAnswerShape"/>
          <p:cNvSpPr txBox="1"/>
          <p:nvPr/>
        </p:nvSpPr>
        <p:spPr>
          <a:xfrm>
            <a:off x="914400" y="384048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1">
                <a:solidFill>
                  <a:srgbClr val="009600"/>
                </a:solidFill>
              </a:defRPr>
            </a:pPr>
            <a:r>
              <a:t>【正确答案】 $\{ (\emptyset, \mathsf{a}), (\emptyset, \mathsf{b}), (\{\mathsf{a}\}, \mathsf{a}), (\{\mathsf{a}\}, \mathsf{b}), (\{\mathsf{b}\}, \mathsf{a}), (\{\mathsf{b}\}, \mathsf{b}), (\{\mathsf{a}, \mathsf{b}\}, \mathsf{a}), (\{\mathsf{a}, \mathsf{b}\}, \mathsf{b}) \}$</a:t>
            </a:r>
          </a:p>
          <a:p>
            <a:pPr algn="l"/>
            <a:r>
              <a:rPr b="1" sz="1800">
                <a:solidFill>
                  <a:srgbClr val="646464"/>
                </a:solidFill>
              </a:rPr>
              <a:t>【解析】 </a:t>
            </a:r>
            <a:r>
              <a:rPr sz="1800">
                <a:latin typeface="Microsoft YaHei"/>
              </a:rPr>
              <a:t>1. 知识点解析：本题考查集合的幂集定义和笛卡尔积运算，涉及空集和子集的处理。
2. 解题思路：先计算 </a:t>
            </a:r>
            <a:r>
              <a:rPr i="1" sz="1800">
                <a:latin typeface="Cambria Math"/>
              </a:rPr>
              <a:t>A</a:t>
            </a:r>
            <a:r>
              <a:rPr sz="1800">
                <a:latin typeface="Microsoft YaHei"/>
              </a:rPr>
              <a:t> 的幂集 </a:t>
            </a:r>
            <a:r>
              <a:rPr i="1" sz="1800">
                <a:latin typeface="Cambria Math"/>
              </a:rPr>
              <a:t>\mathrm{P}(A) = { ∅, {\mathsf{a}}, {\mathsf{b}}, {\mathsf{a}, \mathsf{b}} }</a:t>
            </a:r>
            <a:r>
              <a:rPr sz="1800">
                <a:latin typeface="Microsoft YaHei"/>
              </a:rPr>
              <a:t>，再与 </a:t>
            </a:r>
            <a:r>
              <a:rPr i="1" sz="1800">
                <a:latin typeface="Cambria Math"/>
              </a:rPr>
              <a:t>A</a:t>
            </a:r>
            <a:r>
              <a:rPr sz="1800">
                <a:latin typeface="Microsoft YaHei"/>
              </a:rPr>
              <a:t> 进行笛卡尔积，列出所有有序对。
3. 易错提醒：幂集包括空集和自身，笛卡尔积中元素顺序固定，如 </a:t>
            </a:r>
            <a:r>
              <a:rPr i="1" sz="1800">
                <a:latin typeface="Cambria Math"/>
              </a:rPr>
              <a:t>(∅, \mathsf{a})</a:t>
            </a:r>
            <a:r>
              <a:rPr sz="1800">
                <a:latin typeface="Microsoft YaHei"/>
              </a:rPr>
              <a:t> 和 </a:t>
            </a:r>
            <a:r>
              <a:rPr i="1" sz="1800">
                <a:latin typeface="Cambria Math"/>
              </a:rPr>
              <a:t>({\mathsf{a}}, \mathsf{a})</a:t>
            </a:r>
            <a:r>
              <a:rPr sz="1800">
                <a:latin typeface="Microsoft YaHei"/>
              </a:rPr>
              <a:t> 是不同的。
4. 方法技巧：系统枚举幂集元素，再与 </a:t>
            </a:r>
            <a:r>
              <a:rPr i="1" sz="1800">
                <a:latin typeface="Cambria Math"/>
              </a:rPr>
              <a:t>A</a:t>
            </a:r>
            <a:r>
              <a:rPr sz="1800">
                <a:latin typeface="Microsoft YaHei"/>
              </a:rPr>
              <a:t> 中每个元素配对，确保完整。
5. 举一反三：幂集和笛卡尔积是离散数学基础，可用于定义关系和函数，关联到图论和逻辑中的集合运算。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3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200" b="1"/>
            </a:pPr>
            <a:r>
              <a:rPr>
                <a:latin typeface="Microsoft YaHei"/>
              </a:rPr>
              <a:t>Using Sets and Logic Operators to Describe a System
Referring to Question 1, Chapter 2, and its development in exercises of Chapter 3, give full descriptions in the manner of Chapter 5 for:
(1) A suitable type for the response from any of the following operations.
(2) The operation to register a new user.
(3) The operation to remove a user’s registration.
(4) The operation to log in.
(5) The operation to log out.</a:t>
            </a:r>
          </a:p>
        </p:txBody>
      </p:sp>
      <p:sp>
        <p:nvSpPr>
          <p:cNvPr id="4" name="AnimatedAnswerShape"/>
          <p:cNvSpPr txBox="1"/>
          <p:nvPr/>
        </p:nvSpPr>
        <p:spPr>
          <a:xfrm>
            <a:off x="914400" y="384048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1">
                <a:solidFill>
                  <a:srgbClr val="009600"/>
                </a:solidFill>
              </a:defRPr>
            </a:pPr>
            <a:r>
              <a:t>【正确答案】 </a:t>
            </a:r>
          </a:p>
          <a:p>
            <a:pPr algn="l"/>
            <a:r>
              <a:rPr b="1" sz="1800">
                <a:solidFill>
                  <a:srgbClr val="646464"/>
                </a:solidFill>
              </a:rPr>
              <a:t>【解析】 </a:t>
            </a:r>
            <a:r>
              <a:rPr sz="1800">
                <a:latin typeface="Microsoft YaHei"/>
              </a:rPr>
              <a:t>1. 知识点解析：本题考查形式化方法中如何使用集合和逻辑运算符描述系统操作，涉及类型定义和操作规范。
2. 解题思路：基于上下文（如 Chapter 2 和 Chapter 3 的练习），需定义响应类型和具体操作（注册、移除、登录、登出）的形式化描述，但原文未提供具体细节，无法推导完整答案。
3. 易错提醒：在形式化描述中，需明确集合、变量、前置条件和后置条件，避免歧义。
4. 方法技巧：参考 Z 语言或类似形式化规范，使用模式（schema）定义操作，但本题信息不足。
5. 举一反三：形式化方法在软件工程中用于精确描述系统行为，可延伸学习 Z、B 或 Alloy 等语言。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